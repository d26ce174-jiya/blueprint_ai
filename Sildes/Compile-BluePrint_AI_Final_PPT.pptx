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7"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478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are Team Blueprint AI, and this is Compile. Every enterprise project starts with the same bottleneck: turning a vague business need into something engineers can build. Compile automates that step. Quick intro of the team and our mentor, Prof. Rikita Chokshi, then straight into the problem and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enterprise initiative starts with enthusiasm and immediate friction. Business teams describe goals; developers need database relations, API contracts and NFRs. Translating between them takes weeks of alignment meetings and produces static documents that are outdated almost immediately. (Verify the 2–4 weeks and 3+ tools figures before presenting, or say 'typically'.)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here. Walk through: sign-in, the dashboard, and Transformation Intake for ShopPilot, a SaaS app for small retail shops. We paste the business context and attach a supporting document, then launch AI discovery. Compile comes back with five clarifying questions -- stakeholders, compliance, integrations, budget, expected load -- answered in chat until discovery readiness hits 100%. Compile then runs parallel multi-agent synthesis (sped up to about 18 seconds in the edit) and lands on the Architecture Hub. Walk the tabs: Executive BRD, Solution Architecture (note the structured fallback if the AI provider is unavailable, and Regenerate Section), Process Intelligence BPMN, Database and REST APIs, and Effort and Cost. Finish on Version History, saved as an immutable v1.0 snapshot. Keep a screen recording ready as a backup.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pillars generated for every project. Because they are compiled together, the BRD, the architecture, the schema and the cost bands stay consistent with each other. Developers can start scaffolding from the schema and API contracts immediately.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real tabs from the hub. The stack matrix explains why each technology was chosen. The BPMN view shows workflow steps with actors, SLAs and escalation rules. The API tab gives developers the schema and endpoint contracts. The cost tab gives three budget tiers with a phased delivery schedule. All of it is derived from the same discovery answers, so the tabs agree with each other.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Compile is three tiers. The React client talks to a Node and Express gateway that handles authentication and persistence in MySQL. The gateway offloads intelligence to a dedicated Python FastAPI service, so AI latency never blocks normal API traffic. That service pairs a custom scikit-learn classifier with Gemini for generation.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set Compile apart from a basic LLM wrapper. First, architecture is iterative, so we treat it like source code: every generation is a versioned snapshot, you can regenerate a single section, diff two versions and roll back. Second, resilience: generative APIs hit load spikes, so we run a classifier first, retry with exponential backoff, fail over across models, and finally fall back to an offline dataset. Check that this matches what is actually implemented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Monetization has three layers: subscriptions tiered by organization size, usage-based pricing per blueprint or discovery session, and white-label enterprise licences for consulting firms like Futurrizon. The value is speed and alignment: weeks to minutes, six deliverables from one conversation, and one shared source of truth. Replace 'Weeks to Minutes' with a measured number from your own demo runs if you have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Compile turns requirements into a blueprint. Next, we close the loop into delivery: generate Terraform and Kubernetes manifests from the cloud topology, and push requirements into Jira and GitHub as epics and stories. Longer term, one-click provisioning to the major clouds. Adjust the 'Shipped' list to match exactly what is live.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idea: the real bottleneck in enterprise AI isn't writing code, it's the thinking before it. Compile automates that. Thank you to our mentor, Prof. Rikita Chokshi, for her guidance. We're happy to take questions or go deeper into the live demo.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D"/>
        </a:solidFill>
        <a:effectLst/>
      </p:bgPr>
    </p:bg>
    <p:spTree>
      <p:nvGrpSpPr>
        <p:cNvPr id="1" name=""/>
        <p:cNvGrpSpPr/>
        <p:nvPr/>
      </p:nvGrpSpPr>
      <p:grpSpPr>
        <a:xfrm>
          <a:off x="0" y="0"/>
          <a:ext cx="0" cy="0"/>
          <a:chOff x="0" y="0"/>
          <a:chExt cx="0" cy="0"/>
        </a:xfrm>
      </p:grpSpPr>
      <p:sp>
        <p:nvSpPr>
          <p:cNvPr id="2" name="Shape 0"/>
          <p:cNvSpPr/>
          <p:nvPr/>
        </p:nvSpPr>
        <p:spPr>
          <a:xfrm>
            <a:off x="457200" y="457200"/>
            <a:ext cx="320040" cy="27432"/>
          </a:xfrm>
          <a:prstGeom prst="rect">
            <a:avLst/>
          </a:prstGeom>
          <a:solidFill>
            <a:srgbClr val="E0A243"/>
          </a:solidFill>
          <a:ln w="12700">
            <a:solidFill>
              <a:srgbClr val="E0A243"/>
            </a:solidFill>
            <a:prstDash val="solid"/>
          </a:ln>
        </p:spPr>
      </p:sp>
      <p:sp>
        <p:nvSpPr>
          <p:cNvPr id="3" name="Shape 1"/>
          <p:cNvSpPr/>
          <p:nvPr/>
        </p:nvSpPr>
        <p:spPr>
          <a:xfrm>
            <a:off x="457200" y="457200"/>
            <a:ext cx="27432" cy="320040"/>
          </a:xfrm>
          <a:prstGeom prst="rect">
            <a:avLst/>
          </a:prstGeom>
          <a:solidFill>
            <a:srgbClr val="E0A243"/>
          </a:solidFill>
          <a:ln w="12700">
            <a:solidFill>
              <a:srgbClr val="E0A243"/>
            </a:solidFill>
            <a:prstDash val="solid"/>
          </a:ln>
        </p:spPr>
      </p:sp>
      <p:sp>
        <p:nvSpPr>
          <p:cNvPr id="4" name="Shape 2"/>
          <p:cNvSpPr/>
          <p:nvPr/>
        </p:nvSpPr>
        <p:spPr>
          <a:xfrm>
            <a:off x="11411712" y="457200"/>
            <a:ext cx="320040" cy="27432"/>
          </a:xfrm>
          <a:prstGeom prst="rect">
            <a:avLst/>
          </a:prstGeom>
          <a:solidFill>
            <a:srgbClr val="E0A243"/>
          </a:solidFill>
          <a:ln w="12700">
            <a:solidFill>
              <a:srgbClr val="E0A243"/>
            </a:solidFill>
            <a:prstDash val="solid"/>
          </a:ln>
        </p:spPr>
      </p:sp>
      <p:sp>
        <p:nvSpPr>
          <p:cNvPr id="5" name="Shape 3"/>
          <p:cNvSpPr/>
          <p:nvPr/>
        </p:nvSpPr>
        <p:spPr>
          <a:xfrm>
            <a:off x="11704320" y="457200"/>
            <a:ext cx="27432" cy="320040"/>
          </a:xfrm>
          <a:prstGeom prst="rect">
            <a:avLst/>
          </a:prstGeom>
          <a:solidFill>
            <a:srgbClr val="E0A243"/>
          </a:solidFill>
          <a:ln w="12700">
            <a:solidFill>
              <a:srgbClr val="E0A243"/>
            </a:solidFill>
            <a:prstDash val="solid"/>
          </a:ln>
        </p:spPr>
      </p:sp>
      <p:sp>
        <p:nvSpPr>
          <p:cNvPr id="6" name="Shape 4"/>
          <p:cNvSpPr/>
          <p:nvPr/>
        </p:nvSpPr>
        <p:spPr>
          <a:xfrm>
            <a:off x="457200" y="6373368"/>
            <a:ext cx="320040" cy="27432"/>
          </a:xfrm>
          <a:prstGeom prst="rect">
            <a:avLst/>
          </a:prstGeom>
          <a:solidFill>
            <a:srgbClr val="E0A243"/>
          </a:solidFill>
          <a:ln w="12700">
            <a:solidFill>
              <a:srgbClr val="E0A243"/>
            </a:solidFill>
            <a:prstDash val="solid"/>
          </a:ln>
        </p:spPr>
      </p:sp>
      <p:sp>
        <p:nvSpPr>
          <p:cNvPr id="7" name="Shape 5"/>
          <p:cNvSpPr/>
          <p:nvPr/>
        </p:nvSpPr>
        <p:spPr>
          <a:xfrm>
            <a:off x="457200" y="6080760"/>
            <a:ext cx="27432" cy="320040"/>
          </a:xfrm>
          <a:prstGeom prst="rect">
            <a:avLst/>
          </a:prstGeom>
          <a:solidFill>
            <a:srgbClr val="E0A243"/>
          </a:solidFill>
          <a:ln w="12700">
            <a:solidFill>
              <a:srgbClr val="E0A243"/>
            </a:solidFill>
            <a:prstDash val="solid"/>
          </a:ln>
        </p:spPr>
      </p:sp>
      <p:sp>
        <p:nvSpPr>
          <p:cNvPr id="8" name="Shape 6"/>
          <p:cNvSpPr/>
          <p:nvPr/>
        </p:nvSpPr>
        <p:spPr>
          <a:xfrm>
            <a:off x="11411712" y="6373368"/>
            <a:ext cx="320040" cy="27432"/>
          </a:xfrm>
          <a:prstGeom prst="rect">
            <a:avLst/>
          </a:prstGeom>
          <a:solidFill>
            <a:srgbClr val="E0A243"/>
          </a:solidFill>
          <a:ln w="12700">
            <a:solidFill>
              <a:srgbClr val="E0A243"/>
            </a:solidFill>
            <a:prstDash val="solid"/>
          </a:ln>
        </p:spPr>
      </p:sp>
      <p:sp>
        <p:nvSpPr>
          <p:cNvPr id="9" name="Shape 7"/>
          <p:cNvSpPr/>
          <p:nvPr/>
        </p:nvSpPr>
        <p:spPr>
          <a:xfrm>
            <a:off x="11704320" y="6080760"/>
            <a:ext cx="27432" cy="320040"/>
          </a:xfrm>
          <a:prstGeom prst="rect">
            <a:avLst/>
          </a:prstGeom>
          <a:solidFill>
            <a:srgbClr val="E0A243"/>
          </a:solidFill>
          <a:ln w="12700">
            <a:solidFill>
              <a:srgbClr val="E0A243"/>
            </a:solidFill>
            <a:prstDash val="solid"/>
          </a:ln>
        </p:spPr>
      </p:sp>
      <p:sp>
        <p:nvSpPr>
          <p:cNvPr id="10" name="Text 8"/>
          <p:cNvSpPr txBox="1"/>
          <p:nvPr/>
        </p:nvSpPr>
        <p:spPr>
          <a:xfrm>
            <a:off x="822960" y="777240"/>
            <a:ext cx="10058400" cy="320040"/>
          </a:xfrm>
          <a:prstGeom prst="rect">
            <a:avLst/>
          </a:prstGeom>
          <a:noFill/>
          <a:ln/>
        </p:spPr>
        <p:txBody>
          <a:bodyPr wrap="square" lIns="0" tIns="0" rIns="0" bIns="0" rtlCol="0" anchor="ctr"/>
          <a:lstStyle/>
          <a:p>
            <a:pPr marL="0" indent="0">
              <a:buNone/>
            </a:pPr>
            <a:r>
              <a:rPr lang="en-US" sz="1300" kern="0" spc="300" dirty="0">
                <a:solidFill>
                  <a:srgbClr val="B9C7DD"/>
                </a:solidFill>
                <a:latin typeface="Calibri" pitchFamily="34" charset="0"/>
                <a:ea typeface="Calibri" pitchFamily="34" charset="-122"/>
                <a:cs typeface="Calibri" pitchFamily="34" charset="-120"/>
              </a:rPr>
              <a:t>BUSINESS TRANSFORMATION AI  ·  AI SOLUTION BUILDER  ·  CHAOS2COMMIT 2026</a:t>
            </a:r>
            <a:endParaRPr lang="en-US" sz="1300" dirty="0"/>
          </a:p>
        </p:txBody>
      </p:sp>
      <p:sp>
        <p:nvSpPr>
          <p:cNvPr id="11" name="Text 9"/>
          <p:cNvSpPr txBox="1"/>
          <p:nvPr/>
        </p:nvSpPr>
        <p:spPr>
          <a:xfrm>
            <a:off x="822960" y="1554480"/>
            <a:ext cx="7315200" cy="1280160"/>
          </a:xfrm>
          <a:prstGeom prst="rect">
            <a:avLst/>
          </a:prstGeom>
          <a:noFill/>
          <a:ln/>
        </p:spPr>
        <p:txBody>
          <a:bodyPr wrap="square" lIns="0" tIns="0" rIns="0" bIns="0" rtlCol="0" anchor="ctr"/>
          <a:lstStyle/>
          <a:p>
            <a:pPr marL="0" indent="0">
              <a:buNone/>
            </a:pPr>
            <a:r>
              <a:rPr lang="en-US" sz="8000" b="1" dirty="0">
                <a:solidFill>
                  <a:srgbClr val="FFFFFF"/>
                </a:solidFill>
                <a:latin typeface="Cambria" pitchFamily="34" charset="0"/>
                <a:ea typeface="Cambria" pitchFamily="34" charset="-122"/>
                <a:cs typeface="Cambria" pitchFamily="34" charset="-120"/>
              </a:rPr>
              <a:t>Compile</a:t>
            </a:r>
            <a:endParaRPr lang="en-US" sz="8000" dirty="0"/>
          </a:p>
        </p:txBody>
      </p:sp>
      <p:sp>
        <p:nvSpPr>
          <p:cNvPr id="12" name="Text 10"/>
          <p:cNvSpPr txBox="1"/>
          <p:nvPr/>
        </p:nvSpPr>
        <p:spPr>
          <a:xfrm>
            <a:off x="822960" y="2880360"/>
            <a:ext cx="9144000" cy="548640"/>
          </a:xfrm>
          <a:prstGeom prst="rect">
            <a:avLst/>
          </a:prstGeom>
          <a:noFill/>
          <a:ln/>
        </p:spPr>
        <p:txBody>
          <a:bodyPr wrap="square" lIns="0" tIns="0" rIns="0" bIns="0" rtlCol="0" anchor="ctr"/>
          <a:lstStyle/>
          <a:p>
            <a:pPr marL="0" indent="0">
              <a:buNone/>
            </a:pPr>
            <a:r>
              <a:rPr lang="en-US" sz="2600" i="1" dirty="0">
                <a:solidFill>
                  <a:srgbClr val="E0A243"/>
                </a:solidFill>
                <a:latin typeface="Calibri" pitchFamily="34" charset="0"/>
                <a:ea typeface="Calibri" pitchFamily="34" charset="-122"/>
                <a:cs typeface="Calibri" pitchFamily="34" charset="-120"/>
              </a:rPr>
              <a:t>Turn business chaos into a blueprint you can build from.</a:t>
            </a:r>
            <a:endParaRPr lang="en-US" sz="2600" dirty="0"/>
          </a:p>
        </p:txBody>
      </p:sp>
      <p:sp>
        <p:nvSpPr>
          <p:cNvPr id="13" name="Text 11"/>
          <p:cNvSpPr txBox="1"/>
          <p:nvPr/>
        </p:nvSpPr>
        <p:spPr>
          <a:xfrm>
            <a:off x="822960" y="4114800"/>
            <a:ext cx="548640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Team Blueprint AI</a:t>
            </a:r>
            <a:endParaRPr lang="en-US" sz="2000" dirty="0"/>
          </a:p>
        </p:txBody>
      </p:sp>
      <p:sp>
        <p:nvSpPr>
          <p:cNvPr id="14" name="Text 12"/>
          <p:cNvSpPr txBox="1"/>
          <p:nvPr/>
        </p:nvSpPr>
        <p:spPr>
          <a:xfrm>
            <a:off x="822960" y="461772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Dhruv Bhoi – D26CE154</a:t>
            </a:r>
            <a:endParaRPr lang="en-US" sz="1600" dirty="0"/>
          </a:p>
        </p:txBody>
      </p:sp>
      <p:sp>
        <p:nvSpPr>
          <p:cNvPr id="15" name="Text 13"/>
          <p:cNvSpPr txBox="1"/>
          <p:nvPr/>
        </p:nvSpPr>
        <p:spPr>
          <a:xfrm>
            <a:off x="822960" y="4937760"/>
            <a:ext cx="2560320" cy="50292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Team Leader</a:t>
            </a:r>
          </a:p>
          <a:p>
            <a:pPr marL="0" indent="0">
              <a:buNone/>
            </a:pPr>
            <a:r>
              <a:rPr lang="en-US" sz="1300" dirty="0">
                <a:solidFill>
                  <a:srgbClr val="B9C7DD"/>
                </a:solidFill>
                <a:latin typeface="Calibri" pitchFamily="34" charset="0"/>
                <a:ea typeface="Calibri" pitchFamily="34" charset="-122"/>
                <a:cs typeface="Calibri" pitchFamily="34" charset="-120"/>
              </a:rPr>
              <a:t>System Logic &amp; System Architect</a:t>
            </a:r>
            <a:endParaRPr lang="en-US" sz="1300" dirty="0"/>
          </a:p>
        </p:txBody>
      </p:sp>
      <p:sp>
        <p:nvSpPr>
          <p:cNvPr id="16" name="Text 14"/>
          <p:cNvSpPr txBox="1"/>
          <p:nvPr/>
        </p:nvSpPr>
        <p:spPr>
          <a:xfrm>
            <a:off x="3566160" y="461772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Jiya Sheth – D26CE174</a:t>
            </a:r>
            <a:endParaRPr lang="en-US" sz="1600" dirty="0"/>
          </a:p>
        </p:txBody>
      </p:sp>
      <p:sp>
        <p:nvSpPr>
          <p:cNvPr id="17" name="Text 15"/>
          <p:cNvSpPr txBox="1"/>
          <p:nvPr/>
        </p:nvSpPr>
        <p:spPr>
          <a:xfrm>
            <a:off x="3566160" y="4937760"/>
            <a:ext cx="2560320" cy="50292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AI Integration &amp; UI/UX</a:t>
            </a:r>
            <a:endParaRPr lang="en-US" sz="1300" dirty="0"/>
          </a:p>
        </p:txBody>
      </p:sp>
      <p:sp>
        <p:nvSpPr>
          <p:cNvPr id="18" name="Text 16"/>
          <p:cNvSpPr txBox="1"/>
          <p:nvPr/>
        </p:nvSpPr>
        <p:spPr>
          <a:xfrm>
            <a:off x="6309360" y="461772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Kush Parekh – D26CE148</a:t>
            </a:r>
            <a:endParaRPr lang="en-US" sz="1600" dirty="0"/>
          </a:p>
        </p:txBody>
      </p:sp>
      <p:sp>
        <p:nvSpPr>
          <p:cNvPr id="19" name="Text 17"/>
          <p:cNvSpPr txBox="1"/>
          <p:nvPr/>
        </p:nvSpPr>
        <p:spPr>
          <a:xfrm>
            <a:off x="6309360" y="4937760"/>
            <a:ext cx="2560320" cy="50292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Frontend &amp; Backend</a:t>
            </a:r>
            <a:endParaRPr lang="en-US" sz="1300" dirty="0"/>
          </a:p>
        </p:txBody>
      </p:sp>
      <p:sp>
        <p:nvSpPr>
          <p:cNvPr id="20" name="Text 18"/>
          <p:cNvSpPr txBox="1"/>
          <p:nvPr/>
        </p:nvSpPr>
        <p:spPr>
          <a:xfrm>
            <a:off x="9052560" y="461772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Heet Doshi – D26CE169</a:t>
            </a:r>
            <a:endParaRPr lang="en-US" sz="1600" dirty="0"/>
          </a:p>
        </p:txBody>
      </p:sp>
      <p:sp>
        <p:nvSpPr>
          <p:cNvPr id="21" name="Text 19"/>
          <p:cNvSpPr txBox="1"/>
          <p:nvPr/>
        </p:nvSpPr>
        <p:spPr>
          <a:xfrm>
            <a:off x="9052560" y="4937760"/>
            <a:ext cx="2560320" cy="50292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Technical Documentation</a:t>
            </a:r>
            <a:endParaRPr lang="en-US" sz="1300" dirty="0"/>
          </a:p>
        </p:txBody>
      </p:sp>
      <p:sp>
        <p:nvSpPr>
          <p:cNvPr id="22" name="Text 20"/>
          <p:cNvSpPr txBox="1"/>
          <p:nvPr/>
        </p:nvSpPr>
        <p:spPr>
          <a:xfrm>
            <a:off x="822960" y="5577840"/>
            <a:ext cx="7315200" cy="320040"/>
          </a:xfrm>
          <a:prstGeom prst="rect">
            <a:avLst/>
          </a:prstGeom>
          <a:noFill/>
          <a:ln/>
        </p:spPr>
        <p:txBody>
          <a:bodyPr wrap="square" lIns="0" tIns="0" rIns="0" bIns="0" rtlCol="0" anchor="ctr"/>
          <a:lstStyle/>
          <a:p>
            <a:pPr marL="0" indent="0">
              <a:buNone/>
            </a:pPr>
            <a:r>
              <a:rPr lang="en-US" sz="1600" dirty="0">
                <a:solidFill>
                  <a:srgbClr val="B9C7DD"/>
                </a:solidFill>
                <a:latin typeface="Calibri" pitchFamily="34" charset="0"/>
                <a:ea typeface="Calibri" pitchFamily="34" charset="-122"/>
                <a:cs typeface="Calibri" pitchFamily="34" charset="-120"/>
              </a:rPr>
              <a:t>Mentor:  </a:t>
            </a:r>
            <a:r>
              <a:rPr lang="en-US" sz="1600" b="1" dirty="0">
                <a:solidFill>
                  <a:srgbClr val="E0A243"/>
                </a:solidFill>
                <a:latin typeface="Calibri" pitchFamily="34" charset="0"/>
                <a:ea typeface="Calibri" pitchFamily="34" charset="-122"/>
                <a:cs typeface="Calibri" pitchFamily="34" charset="-120"/>
              </a:rPr>
              <a:t>Prof. Rikita Chokshi , CE, CSPIT, CHARUSAT.</a:t>
            </a:r>
            <a:endParaRPr lang="en-US" sz="1600" dirty="0"/>
          </a:p>
        </p:txBody>
      </p:sp>
      <p:sp>
        <p:nvSpPr>
          <p:cNvPr id="23" name="Text 21"/>
          <p:cNvSpPr txBox="1"/>
          <p:nvPr/>
        </p:nvSpPr>
        <p:spPr>
          <a:xfrm>
            <a:off x="822960" y="5989320"/>
            <a:ext cx="7315200" cy="274320"/>
          </a:xfrm>
          <a:prstGeom prst="rect">
            <a:avLst/>
          </a:prstGeom>
          <a:noFill/>
          <a:ln/>
        </p:spPr>
        <p:txBody>
          <a:bodyPr wrap="square" lIns="0" tIns="0" rIns="0" bIns="0" rtlCol="0" anchor="ctr"/>
          <a:lstStyle/>
          <a:p>
            <a:pPr marL="0" indent="0">
              <a:buNone/>
            </a:pPr>
            <a:r>
              <a:rPr lang="en-US" sz="1200" dirty="0">
                <a:solidFill>
                  <a:srgbClr val="B9C7DD"/>
                </a:solidFill>
                <a:latin typeface="Calibri" pitchFamily="34" charset="0"/>
                <a:ea typeface="Calibri" pitchFamily="34" charset="-122"/>
                <a:cs typeface="Calibri" pitchFamily="34" charset="-120"/>
              </a:rPr>
              <a:t>CHARUSAT  ×  Futurrizon Technologies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The Problem</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Projects don't fail at coding. They stall in the gap before it.</a:t>
            </a:r>
            <a:endParaRPr lang="en-US" sz="1800" dirty="0"/>
          </a:p>
        </p:txBody>
      </p:sp>
      <p:sp>
        <p:nvSpPr>
          <p:cNvPr id="4" name="Shape 2"/>
          <p:cNvSpPr/>
          <p:nvPr/>
        </p:nvSpPr>
        <p:spPr>
          <a:xfrm>
            <a:off x="548640" y="1965960"/>
            <a:ext cx="3520440" cy="320040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5" name="Shape 3"/>
          <p:cNvSpPr/>
          <p:nvPr/>
        </p:nvSpPr>
        <p:spPr>
          <a:xfrm>
            <a:off x="868680" y="2286000"/>
            <a:ext cx="685800" cy="685800"/>
          </a:xfrm>
          <a:prstGeom prst="ellipse">
            <a:avLst/>
          </a:prstGeom>
          <a:solidFill>
            <a:srgbClr val="0A1F3D"/>
          </a:solidFill>
          <a:ln w="12700">
            <a:solidFill>
              <a:srgbClr val="0A1F3D"/>
            </a:solidFill>
            <a:prstDash val="solid"/>
          </a:ln>
        </p:spPr>
      </p:sp>
      <p:pic>
        <p:nvPicPr>
          <p:cNvPr id="6" name="Image 0" descr="preencoded.png"/>
          <p:cNvPicPr>
            <a:picLocks noChangeAspect="1"/>
          </p:cNvPicPr>
          <p:nvPr/>
        </p:nvPicPr>
        <p:blipFill>
          <a:blip r:embed="rId3"/>
          <a:stretch>
            <a:fillRect/>
          </a:stretch>
        </p:blipFill>
        <p:spPr>
          <a:xfrm>
            <a:off x="1040130" y="2457450"/>
            <a:ext cx="342900" cy="342900"/>
          </a:xfrm>
          <a:prstGeom prst="rect">
            <a:avLst/>
          </a:prstGeom>
        </p:spPr>
      </p:pic>
      <p:sp>
        <p:nvSpPr>
          <p:cNvPr id="7" name="Text 4"/>
          <p:cNvSpPr txBox="1"/>
          <p:nvPr/>
        </p:nvSpPr>
        <p:spPr>
          <a:xfrm>
            <a:off x="868680" y="3154680"/>
            <a:ext cx="2926080" cy="457200"/>
          </a:xfrm>
          <a:prstGeom prst="rect">
            <a:avLst/>
          </a:prstGeom>
          <a:noFill/>
          <a:ln/>
        </p:spPr>
        <p:txBody>
          <a:bodyPr wrap="square" lIns="0" tIns="0" rIns="0" bIns="0" rtlCol="0" anchor="ctr"/>
          <a:lstStyle/>
          <a:p>
            <a:pPr marL="0" indent="0">
              <a:buNone/>
            </a:pPr>
            <a:r>
              <a:rPr lang="en-US" sz="2100" b="1" dirty="0">
                <a:solidFill>
                  <a:srgbClr val="0A1F3D"/>
                </a:solidFill>
                <a:latin typeface="Cambria" pitchFamily="34" charset="0"/>
                <a:ea typeface="Cambria" pitchFamily="34" charset="-122"/>
                <a:cs typeface="Cambria" pitchFamily="34" charset="-120"/>
              </a:rPr>
              <a:t>The alignment gap</a:t>
            </a:r>
            <a:endParaRPr lang="en-US" sz="2100" dirty="0"/>
          </a:p>
        </p:txBody>
      </p:sp>
      <p:sp>
        <p:nvSpPr>
          <p:cNvPr id="8" name="Text 5"/>
          <p:cNvSpPr txBox="1"/>
          <p:nvPr/>
        </p:nvSpPr>
        <p:spPr>
          <a:xfrm>
            <a:off x="868680" y="3657600"/>
            <a:ext cx="2926080" cy="1371600"/>
          </a:xfrm>
          <a:prstGeom prst="rect">
            <a:avLst/>
          </a:prstGeom>
          <a:noFill/>
          <a:ln/>
        </p:spPr>
        <p:txBody>
          <a:bodyPr wrap="square" lIns="0" tIns="0" rIns="0" bIns="0" rtlCol="0" anchor="t"/>
          <a:lstStyle/>
          <a:p>
            <a:pPr marL="0" indent="0">
              <a:buNone/>
            </a:pPr>
            <a:r>
              <a:rPr lang="en-US" sz="1500" dirty="0">
                <a:solidFill>
                  <a:srgbClr val="5B6B82"/>
                </a:solidFill>
                <a:latin typeface="Calibri" pitchFamily="34" charset="0"/>
                <a:ea typeface="Calibri" pitchFamily="34" charset="-122"/>
                <a:cs typeface="Calibri" pitchFamily="34" charset="-120"/>
              </a:rPr>
              <a:t>Business teams speak in goals and ROI. Engineers need schemas, API contracts and non-functional requirements. Translating takes weeks of meetings.</a:t>
            </a:r>
            <a:endParaRPr lang="en-US" sz="1500" dirty="0"/>
          </a:p>
        </p:txBody>
      </p:sp>
      <p:sp>
        <p:nvSpPr>
          <p:cNvPr id="9" name="Shape 6"/>
          <p:cNvSpPr/>
          <p:nvPr/>
        </p:nvSpPr>
        <p:spPr>
          <a:xfrm>
            <a:off x="4297680" y="1965960"/>
            <a:ext cx="3520440" cy="320040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0" name="Shape 7"/>
          <p:cNvSpPr/>
          <p:nvPr/>
        </p:nvSpPr>
        <p:spPr>
          <a:xfrm>
            <a:off x="4617720" y="2286000"/>
            <a:ext cx="685800" cy="685800"/>
          </a:xfrm>
          <a:prstGeom prst="ellipse">
            <a:avLst/>
          </a:prstGeom>
          <a:solidFill>
            <a:srgbClr val="0A1F3D"/>
          </a:solidFill>
          <a:ln w="12700">
            <a:solidFill>
              <a:srgbClr val="0A1F3D"/>
            </a:solidFill>
            <a:prstDash val="solid"/>
          </a:ln>
        </p:spPr>
      </p:sp>
      <p:pic>
        <p:nvPicPr>
          <p:cNvPr id="11" name="Image 1" descr="preencoded.png"/>
          <p:cNvPicPr>
            <a:picLocks noChangeAspect="1"/>
          </p:cNvPicPr>
          <p:nvPr/>
        </p:nvPicPr>
        <p:blipFill>
          <a:blip r:embed="rId4"/>
          <a:stretch>
            <a:fillRect/>
          </a:stretch>
        </p:blipFill>
        <p:spPr>
          <a:xfrm>
            <a:off x="4789170" y="2457450"/>
            <a:ext cx="342900" cy="342900"/>
          </a:xfrm>
          <a:prstGeom prst="rect">
            <a:avLst/>
          </a:prstGeom>
        </p:spPr>
      </p:pic>
      <p:sp>
        <p:nvSpPr>
          <p:cNvPr id="12" name="Text 8"/>
          <p:cNvSpPr txBox="1"/>
          <p:nvPr/>
        </p:nvSpPr>
        <p:spPr>
          <a:xfrm>
            <a:off x="4617720" y="3154680"/>
            <a:ext cx="2926080" cy="457200"/>
          </a:xfrm>
          <a:prstGeom prst="rect">
            <a:avLst/>
          </a:prstGeom>
          <a:noFill/>
          <a:ln/>
        </p:spPr>
        <p:txBody>
          <a:bodyPr wrap="square" lIns="0" tIns="0" rIns="0" bIns="0" rtlCol="0" anchor="ctr"/>
          <a:lstStyle/>
          <a:p>
            <a:pPr marL="0" indent="0">
              <a:buNone/>
            </a:pPr>
            <a:r>
              <a:rPr lang="en-US" sz="2100" b="1" dirty="0">
                <a:solidFill>
                  <a:srgbClr val="0A1F3D"/>
                </a:solidFill>
                <a:latin typeface="Cambria" pitchFamily="34" charset="0"/>
                <a:ea typeface="Cambria" pitchFamily="34" charset="-122"/>
                <a:cs typeface="Cambria" pitchFamily="34" charset="-120"/>
              </a:rPr>
              <a:t>Architecture guesswork</a:t>
            </a:r>
            <a:endParaRPr lang="en-US" sz="2100" dirty="0"/>
          </a:p>
        </p:txBody>
      </p:sp>
      <p:sp>
        <p:nvSpPr>
          <p:cNvPr id="13" name="Text 9"/>
          <p:cNvSpPr txBox="1"/>
          <p:nvPr/>
        </p:nvSpPr>
        <p:spPr>
          <a:xfrm>
            <a:off x="4617720" y="3657600"/>
            <a:ext cx="2926080" cy="1371600"/>
          </a:xfrm>
          <a:prstGeom prst="rect">
            <a:avLst/>
          </a:prstGeom>
          <a:noFill/>
          <a:ln/>
        </p:spPr>
        <p:txBody>
          <a:bodyPr wrap="square" lIns="0" tIns="0" rIns="0" bIns="0" rtlCol="0" anchor="t"/>
          <a:lstStyle/>
          <a:p>
            <a:pPr marL="0" indent="0">
              <a:buNone/>
            </a:pPr>
            <a:r>
              <a:rPr lang="en-US" sz="1500" dirty="0">
                <a:solidFill>
                  <a:srgbClr val="5B6B82"/>
                </a:solidFill>
                <a:latin typeface="Calibri" pitchFamily="34" charset="0"/>
                <a:ea typeface="Calibri" pitchFamily="34" charset="-122"/>
                <a:cs typeface="Calibri" pitchFamily="34" charset="-120"/>
              </a:rPr>
              <a:t>Stacks and topologies get picked by habit, not analysis. Unclear scope boundaries turn into scope creep on day one.</a:t>
            </a:r>
            <a:endParaRPr lang="en-US" sz="1500" dirty="0"/>
          </a:p>
        </p:txBody>
      </p:sp>
      <p:sp>
        <p:nvSpPr>
          <p:cNvPr id="14" name="Shape 10"/>
          <p:cNvSpPr/>
          <p:nvPr/>
        </p:nvSpPr>
        <p:spPr>
          <a:xfrm>
            <a:off x="8046720" y="1965960"/>
            <a:ext cx="3520440" cy="320040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5" name="Shape 11"/>
          <p:cNvSpPr/>
          <p:nvPr/>
        </p:nvSpPr>
        <p:spPr>
          <a:xfrm>
            <a:off x="8366760" y="2286000"/>
            <a:ext cx="685800" cy="685800"/>
          </a:xfrm>
          <a:prstGeom prst="ellipse">
            <a:avLst/>
          </a:prstGeom>
          <a:solidFill>
            <a:srgbClr val="0A1F3D"/>
          </a:solidFill>
          <a:ln w="12700">
            <a:solidFill>
              <a:srgbClr val="0A1F3D"/>
            </a:solidFill>
            <a:prstDash val="solid"/>
          </a:ln>
        </p:spPr>
      </p:sp>
      <p:pic>
        <p:nvPicPr>
          <p:cNvPr id="16" name="Image 2" descr="preencoded.png"/>
          <p:cNvPicPr>
            <a:picLocks noChangeAspect="1"/>
          </p:cNvPicPr>
          <p:nvPr/>
        </p:nvPicPr>
        <p:blipFill>
          <a:blip r:embed="rId5"/>
          <a:stretch>
            <a:fillRect/>
          </a:stretch>
        </p:blipFill>
        <p:spPr>
          <a:xfrm>
            <a:off x="8538210" y="2457450"/>
            <a:ext cx="342900" cy="342900"/>
          </a:xfrm>
          <a:prstGeom prst="rect">
            <a:avLst/>
          </a:prstGeom>
        </p:spPr>
      </p:pic>
      <p:sp>
        <p:nvSpPr>
          <p:cNvPr id="17" name="Text 12"/>
          <p:cNvSpPr txBox="1"/>
          <p:nvPr/>
        </p:nvSpPr>
        <p:spPr>
          <a:xfrm>
            <a:off x="8366760" y="3154680"/>
            <a:ext cx="2926080" cy="457200"/>
          </a:xfrm>
          <a:prstGeom prst="rect">
            <a:avLst/>
          </a:prstGeom>
          <a:noFill/>
          <a:ln/>
        </p:spPr>
        <p:txBody>
          <a:bodyPr wrap="square" lIns="0" tIns="0" rIns="0" bIns="0" rtlCol="0" anchor="ctr"/>
          <a:lstStyle/>
          <a:p>
            <a:pPr marL="0" indent="0">
              <a:buNone/>
            </a:pPr>
            <a:r>
              <a:rPr lang="en-US" sz="2100" b="1" dirty="0">
                <a:solidFill>
                  <a:srgbClr val="0A1F3D"/>
                </a:solidFill>
                <a:latin typeface="Cambria" pitchFamily="34" charset="0"/>
                <a:ea typeface="Cambria" pitchFamily="34" charset="-122"/>
                <a:cs typeface="Cambria" pitchFamily="34" charset="-120"/>
              </a:rPr>
              <a:t>Documents that go stale</a:t>
            </a:r>
            <a:endParaRPr lang="en-US" sz="2100" dirty="0"/>
          </a:p>
        </p:txBody>
      </p:sp>
      <p:sp>
        <p:nvSpPr>
          <p:cNvPr id="18" name="Text 13"/>
          <p:cNvSpPr txBox="1"/>
          <p:nvPr/>
        </p:nvSpPr>
        <p:spPr>
          <a:xfrm>
            <a:off x="8366760" y="3657600"/>
            <a:ext cx="2926080" cy="1371600"/>
          </a:xfrm>
          <a:prstGeom prst="rect">
            <a:avLst/>
          </a:prstGeom>
          <a:noFill/>
          <a:ln/>
        </p:spPr>
        <p:txBody>
          <a:bodyPr wrap="square" lIns="0" tIns="0" rIns="0" bIns="0" rtlCol="0" anchor="t"/>
          <a:lstStyle/>
          <a:p>
            <a:pPr marL="0" indent="0">
              <a:buNone/>
            </a:pPr>
            <a:r>
              <a:rPr lang="en-US" sz="1500" dirty="0">
                <a:solidFill>
                  <a:srgbClr val="5B6B82"/>
                </a:solidFill>
                <a:latin typeface="Calibri" pitchFamily="34" charset="0"/>
                <a:ea typeface="Calibri" pitchFamily="34" charset="-122"/>
                <a:cs typeface="Calibri" pitchFamily="34" charset="-120"/>
              </a:rPr>
              <a:t>Requirements live in three or more disconnected docs, diagrams and sheets that never stay in sync, and obsolete fast.</a:t>
            </a:r>
            <a:endParaRPr lang="en-US" sz="1500" dirty="0"/>
          </a:p>
        </p:txBody>
      </p:sp>
      <p:sp>
        <p:nvSpPr>
          <p:cNvPr id="19" name="Shape 14"/>
          <p:cNvSpPr/>
          <p:nvPr/>
        </p:nvSpPr>
        <p:spPr>
          <a:xfrm>
            <a:off x="548640" y="5440680"/>
            <a:ext cx="11109960" cy="731520"/>
          </a:xfrm>
          <a:prstGeom prst="rect">
            <a:avLst/>
          </a:prstGeom>
          <a:solidFill>
            <a:srgbClr val="0A1F3D"/>
          </a:solidFill>
          <a:ln w="12700">
            <a:solidFill>
              <a:srgbClr val="0A1F3D"/>
            </a:solidFill>
            <a:prstDash val="solid"/>
          </a:ln>
        </p:spPr>
      </p:sp>
      <p:sp>
        <p:nvSpPr>
          <p:cNvPr id="20" name="Text 15"/>
          <p:cNvSpPr txBox="1"/>
          <p:nvPr/>
        </p:nvSpPr>
        <p:spPr>
          <a:xfrm>
            <a:off x="822960" y="5440680"/>
            <a:ext cx="10607040" cy="731520"/>
          </a:xfrm>
          <a:prstGeom prst="rect">
            <a:avLst/>
          </a:prstGeom>
          <a:noFill/>
          <a:ln/>
        </p:spPr>
        <p:txBody>
          <a:bodyPr wrap="square" lIns="0" tIns="0" rIns="0" bIns="0" rtlCol="0" anchor="ctr"/>
          <a:lstStyle/>
          <a:p>
            <a:pPr marL="0" indent="0">
              <a:buNone/>
            </a:pPr>
            <a:r>
              <a:rPr lang="en-US" sz="1800" b="1" dirty="0">
                <a:solidFill>
                  <a:srgbClr val="E0A243"/>
                </a:solidFill>
                <a:latin typeface="Calibri" pitchFamily="34" charset="0"/>
                <a:ea typeface="Calibri" pitchFamily="34" charset="-122"/>
                <a:cs typeface="Calibri" pitchFamily="34" charset="-120"/>
              </a:rPr>
              <a:t>2–4 weeks</a:t>
            </a:r>
            <a:r>
              <a:rPr lang="en-US" sz="1800" dirty="0">
                <a:solidFill>
                  <a:srgbClr val="FFFFFF"/>
                </a:solidFill>
                <a:latin typeface="Calibri" pitchFamily="34" charset="0"/>
                <a:ea typeface="Calibri" pitchFamily="34" charset="-122"/>
                <a:cs typeface="Calibri" pitchFamily="34" charset="-120"/>
              </a:rPr>
              <a:t> to a first solution blueprint, across </a:t>
            </a:r>
            <a:r>
              <a:rPr lang="en-US" sz="1800" b="1" dirty="0">
                <a:solidFill>
                  <a:srgbClr val="E0A243"/>
                </a:solidFill>
                <a:latin typeface="Calibri" pitchFamily="34" charset="0"/>
                <a:ea typeface="Calibri" pitchFamily="34" charset="-122"/>
                <a:cs typeface="Calibri" pitchFamily="34" charset="-120"/>
              </a:rPr>
              <a:t>3+ disconnected tools</a:t>
            </a:r>
            <a:r>
              <a:rPr lang="en-US" sz="1800" dirty="0">
                <a:solidFill>
                  <a:srgbClr val="FFFFFF"/>
                </a:solidFill>
                <a:latin typeface="Calibri" pitchFamily="34" charset="0"/>
                <a:ea typeface="Calibri" pitchFamily="34" charset="-122"/>
                <a:cs typeface="Calibri" pitchFamily="34" charset="-120"/>
              </a:rPr>
              <a:t> — before a single line of code.</a:t>
            </a:r>
            <a:endParaRPr lang="en-US" sz="1800" dirty="0"/>
          </a:p>
        </p:txBody>
      </p:sp>
      <p:sp>
        <p:nvSpPr>
          <p:cNvPr id="21" name="Text 1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22" name="Text 17"/>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0335E51-8D81-ADC0-7E38-CB657D2176CD}"/>
              </a:ext>
            </a:extLst>
          </p:cNvPr>
          <p:cNvSpPr txBox="1"/>
          <p:nvPr/>
        </p:nvSpPr>
        <p:spPr>
          <a:xfrm>
            <a:off x="664769" y="292608"/>
            <a:ext cx="8229600" cy="548640"/>
          </a:xfrm>
          <a:prstGeom prst="rect">
            <a:avLst/>
          </a:prstGeom>
          <a:noFill/>
          <a:ln/>
        </p:spPr>
        <p:txBody>
          <a:bodyPr wrap="square" lIns="0" tIns="0" rIns="0" bIns="0" rtlCol="0" anchor="ctr"/>
          <a:lstStyle/>
          <a:p>
            <a:pPr marL="0" indent="0">
              <a:buNone/>
            </a:pPr>
            <a:r>
              <a:rPr lang="en-US" sz="3200" b="1" dirty="0">
                <a:solidFill>
                  <a:srgbClr val="0A1F3D"/>
                </a:solidFill>
                <a:latin typeface="Cambria" pitchFamily="34" charset="0"/>
                <a:ea typeface="Cambria" pitchFamily="34" charset="-122"/>
                <a:cs typeface="Cambria" pitchFamily="34" charset="-120"/>
              </a:rPr>
              <a:t>Compile: Idea in, Blueprint out</a:t>
            </a:r>
            <a:endParaRPr lang="en-US" sz="3200" dirty="0"/>
          </a:p>
        </p:txBody>
      </p:sp>
      <p:sp>
        <p:nvSpPr>
          <p:cNvPr id="5" name="Text 1">
            <a:extLst>
              <a:ext uri="{FF2B5EF4-FFF2-40B4-BE49-F238E27FC236}">
                <a16:creationId xmlns:a16="http://schemas.microsoft.com/office/drawing/2014/main" id="{2C78D162-99F3-843A-281C-13D1A1DCC773}"/>
              </a:ext>
            </a:extLst>
          </p:cNvPr>
          <p:cNvSpPr txBox="1"/>
          <p:nvPr/>
        </p:nvSpPr>
        <p:spPr>
          <a:xfrm>
            <a:off x="609905" y="914400"/>
            <a:ext cx="8229600" cy="320040"/>
          </a:xfrm>
          <a:prstGeom prst="rect">
            <a:avLst/>
          </a:prstGeom>
          <a:noFill/>
          <a:ln/>
        </p:spPr>
        <p:txBody>
          <a:bodyPr wrap="square" lIns="0" tIns="0" rIns="0" bIns="0" rtlCol="0" anchor="ctr"/>
          <a:lstStyle/>
          <a:p>
            <a:pPr marL="0" indent="0">
              <a:buNone/>
            </a:pPr>
            <a:r>
              <a:rPr lang="en-US" sz="1400" dirty="0">
                <a:solidFill>
                  <a:srgbClr val="5B6B82"/>
                </a:solidFill>
                <a:latin typeface="Calibri" pitchFamily="34" charset="0"/>
                <a:ea typeface="Calibri" pitchFamily="34" charset="-122"/>
                <a:cs typeface="Calibri" pitchFamily="34" charset="-120"/>
              </a:rPr>
              <a:t>From a messy idea to a build-ready blueprint, in four steps.</a:t>
            </a:r>
            <a:endParaRPr lang="en-US" sz="1400" dirty="0"/>
          </a:p>
        </p:txBody>
      </p:sp>
      <p:sp>
        <p:nvSpPr>
          <p:cNvPr id="7" name="Shape 2">
            <a:extLst>
              <a:ext uri="{FF2B5EF4-FFF2-40B4-BE49-F238E27FC236}">
                <a16:creationId xmlns:a16="http://schemas.microsoft.com/office/drawing/2014/main" id="{4B7A9D9E-C517-DCD4-D408-59DD4DA36A63}"/>
              </a:ext>
            </a:extLst>
          </p:cNvPr>
          <p:cNvSpPr/>
          <p:nvPr/>
        </p:nvSpPr>
        <p:spPr>
          <a:xfrm>
            <a:off x="609905" y="1508760"/>
            <a:ext cx="1828800" cy="1325880"/>
          </a:xfrm>
          <a:prstGeom prst="roundRect">
            <a:avLst>
              <a:gd name="adj" fmla="val 5517"/>
            </a:avLst>
          </a:prstGeom>
          <a:solidFill>
            <a:srgbClr val="FFFFFF"/>
          </a:solidFill>
          <a:ln w="15875">
            <a:solidFill>
              <a:srgbClr val="0A1F3D"/>
            </a:solidFill>
            <a:prstDash val="solid"/>
          </a:ln>
          <a:effectLst>
            <a:outerShdw blurRad="76200" dist="25400" dir="5400000" algn="bl" rotWithShape="0">
              <a:srgbClr val="000000">
                <a:alpha val="15000"/>
              </a:srgbClr>
            </a:outerShdw>
          </a:effectLst>
        </p:spPr>
      </p:sp>
      <p:sp>
        <p:nvSpPr>
          <p:cNvPr id="9" name="Text 3">
            <a:extLst>
              <a:ext uri="{FF2B5EF4-FFF2-40B4-BE49-F238E27FC236}">
                <a16:creationId xmlns:a16="http://schemas.microsoft.com/office/drawing/2014/main" id="{961E2A48-6AA4-4113-9561-5604FEA3B73A}"/>
              </a:ext>
            </a:extLst>
          </p:cNvPr>
          <p:cNvSpPr txBox="1"/>
          <p:nvPr/>
        </p:nvSpPr>
        <p:spPr>
          <a:xfrm>
            <a:off x="747065" y="1618488"/>
            <a:ext cx="1554480" cy="201168"/>
          </a:xfrm>
          <a:prstGeom prst="rect">
            <a:avLst/>
          </a:prstGeom>
          <a:noFill/>
          <a:ln/>
        </p:spPr>
        <p:txBody>
          <a:bodyPr wrap="square" lIns="0" tIns="0" rIns="0" bIns="0" rtlCol="0" anchor="ctr"/>
          <a:lstStyle/>
          <a:p>
            <a:pPr marL="0" indent="0">
              <a:buNone/>
            </a:pPr>
            <a:r>
              <a:rPr lang="en-US" sz="1000" b="1" kern="0" spc="200" dirty="0">
                <a:solidFill>
                  <a:srgbClr val="5B6B82"/>
                </a:solidFill>
                <a:latin typeface="Calibri" pitchFamily="34" charset="0"/>
                <a:ea typeface="Calibri" pitchFamily="34" charset="-122"/>
                <a:cs typeface="Calibri" pitchFamily="34" charset="-120"/>
              </a:rPr>
              <a:t>INPUT</a:t>
            </a:r>
            <a:endParaRPr lang="en-US" sz="1000" dirty="0"/>
          </a:p>
        </p:txBody>
      </p:sp>
      <p:sp>
        <p:nvSpPr>
          <p:cNvPr id="11" name="Text 4">
            <a:extLst>
              <a:ext uri="{FF2B5EF4-FFF2-40B4-BE49-F238E27FC236}">
                <a16:creationId xmlns:a16="http://schemas.microsoft.com/office/drawing/2014/main" id="{A2ED3D5F-F274-B329-F4F8-2D1E05A68DA3}"/>
              </a:ext>
            </a:extLst>
          </p:cNvPr>
          <p:cNvSpPr txBox="1"/>
          <p:nvPr/>
        </p:nvSpPr>
        <p:spPr>
          <a:xfrm>
            <a:off x="747065" y="1837944"/>
            <a:ext cx="1554480" cy="292608"/>
          </a:xfrm>
          <a:prstGeom prst="rect">
            <a:avLst/>
          </a:prstGeom>
          <a:noFill/>
          <a:ln/>
        </p:spPr>
        <p:txBody>
          <a:bodyPr wrap="square" lIns="0" tIns="0" rIns="0" bIns="0" rtlCol="0" anchor="ctr"/>
          <a:lstStyle/>
          <a:p>
            <a:pPr marL="0" indent="0">
              <a:buNone/>
            </a:pPr>
            <a:r>
              <a:rPr lang="en-US" sz="1500" b="1" dirty="0">
                <a:solidFill>
                  <a:srgbClr val="0A1F3D"/>
                </a:solidFill>
                <a:latin typeface="Cambria" pitchFamily="34" charset="0"/>
                <a:ea typeface="Cambria" pitchFamily="34" charset="-122"/>
                <a:cs typeface="Cambria" pitchFamily="34" charset="-120"/>
              </a:rPr>
              <a:t>Business idea</a:t>
            </a:r>
            <a:endParaRPr lang="en-US" sz="1500" dirty="0"/>
          </a:p>
        </p:txBody>
      </p:sp>
      <p:sp>
        <p:nvSpPr>
          <p:cNvPr id="13" name="Text 5">
            <a:extLst>
              <a:ext uri="{FF2B5EF4-FFF2-40B4-BE49-F238E27FC236}">
                <a16:creationId xmlns:a16="http://schemas.microsoft.com/office/drawing/2014/main" id="{AAF38F6E-26F3-B6FA-0762-BA79131E10C4}"/>
              </a:ext>
            </a:extLst>
          </p:cNvPr>
          <p:cNvSpPr txBox="1"/>
          <p:nvPr/>
        </p:nvSpPr>
        <p:spPr>
          <a:xfrm>
            <a:off x="747065" y="2148840"/>
            <a:ext cx="1554480" cy="621792"/>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One line, a PDF, or an industry template</a:t>
            </a:r>
            <a:endParaRPr lang="en-US" sz="1050" dirty="0"/>
          </a:p>
        </p:txBody>
      </p:sp>
      <p:sp>
        <p:nvSpPr>
          <p:cNvPr id="15" name="Shape 6">
            <a:extLst>
              <a:ext uri="{FF2B5EF4-FFF2-40B4-BE49-F238E27FC236}">
                <a16:creationId xmlns:a16="http://schemas.microsoft.com/office/drawing/2014/main" id="{E1C2EC05-77A7-39B8-46EA-9F318C6FB4AA}"/>
              </a:ext>
            </a:extLst>
          </p:cNvPr>
          <p:cNvSpPr/>
          <p:nvPr/>
        </p:nvSpPr>
        <p:spPr>
          <a:xfrm>
            <a:off x="2493569" y="2171700"/>
            <a:ext cx="347472" cy="0"/>
          </a:xfrm>
          <a:prstGeom prst="line">
            <a:avLst/>
          </a:prstGeom>
          <a:noFill/>
          <a:ln w="28575">
            <a:solidFill>
              <a:srgbClr val="E0A243"/>
            </a:solidFill>
            <a:prstDash val="solid"/>
            <a:tailEnd type="triangle"/>
          </a:ln>
        </p:spPr>
      </p:sp>
      <p:sp>
        <p:nvSpPr>
          <p:cNvPr id="17" name="Shape 7">
            <a:extLst>
              <a:ext uri="{FF2B5EF4-FFF2-40B4-BE49-F238E27FC236}">
                <a16:creationId xmlns:a16="http://schemas.microsoft.com/office/drawing/2014/main" id="{E628B934-60EE-016B-D25D-46B541358E34}"/>
              </a:ext>
            </a:extLst>
          </p:cNvPr>
          <p:cNvSpPr/>
          <p:nvPr/>
        </p:nvSpPr>
        <p:spPr>
          <a:xfrm>
            <a:off x="2895905" y="1508760"/>
            <a:ext cx="1828800" cy="1325880"/>
          </a:xfrm>
          <a:prstGeom prst="roundRect">
            <a:avLst>
              <a:gd name="adj" fmla="val 5517"/>
            </a:avLst>
          </a:prstGeom>
          <a:solidFill>
            <a:srgbClr val="0A1F3D"/>
          </a:solidFill>
          <a:ln w="15875">
            <a:solidFill>
              <a:srgbClr val="0A1F3D"/>
            </a:solidFill>
            <a:prstDash val="solid"/>
          </a:ln>
          <a:effectLst>
            <a:outerShdw blurRad="76200" dist="25400" dir="5400000" algn="bl" rotWithShape="0">
              <a:srgbClr val="000000">
                <a:alpha val="15000"/>
              </a:srgbClr>
            </a:outerShdw>
          </a:effectLst>
        </p:spPr>
      </p:sp>
      <p:sp>
        <p:nvSpPr>
          <p:cNvPr id="19" name="Text 8">
            <a:extLst>
              <a:ext uri="{FF2B5EF4-FFF2-40B4-BE49-F238E27FC236}">
                <a16:creationId xmlns:a16="http://schemas.microsoft.com/office/drawing/2014/main" id="{DB71430C-8622-7F29-EAF5-D7CF0FBB8A6B}"/>
              </a:ext>
            </a:extLst>
          </p:cNvPr>
          <p:cNvSpPr txBox="1"/>
          <p:nvPr/>
        </p:nvSpPr>
        <p:spPr>
          <a:xfrm>
            <a:off x="3033065" y="1618488"/>
            <a:ext cx="1554480" cy="201168"/>
          </a:xfrm>
          <a:prstGeom prst="rect">
            <a:avLst/>
          </a:prstGeom>
          <a:noFill/>
          <a:ln/>
        </p:spPr>
        <p:txBody>
          <a:bodyPr wrap="square" lIns="0" tIns="0" rIns="0" bIns="0" rtlCol="0" anchor="ctr"/>
          <a:lstStyle/>
          <a:p>
            <a:pPr marL="0" indent="0">
              <a:buNone/>
            </a:pPr>
            <a:r>
              <a:rPr lang="en-US" sz="1000" b="1" kern="0" spc="200" dirty="0">
                <a:solidFill>
                  <a:srgbClr val="E0A243"/>
                </a:solidFill>
                <a:latin typeface="Calibri" pitchFamily="34" charset="0"/>
                <a:ea typeface="Calibri" pitchFamily="34" charset="-122"/>
                <a:cs typeface="Calibri" pitchFamily="34" charset="-120"/>
              </a:rPr>
              <a:t>01</a:t>
            </a:r>
            <a:endParaRPr lang="en-US" sz="1000" dirty="0"/>
          </a:p>
        </p:txBody>
      </p:sp>
      <p:sp>
        <p:nvSpPr>
          <p:cNvPr id="21" name="Text 9">
            <a:extLst>
              <a:ext uri="{FF2B5EF4-FFF2-40B4-BE49-F238E27FC236}">
                <a16:creationId xmlns:a16="http://schemas.microsoft.com/office/drawing/2014/main" id="{EF43AB94-2600-55DE-6F4F-D6EA7343959A}"/>
              </a:ext>
            </a:extLst>
          </p:cNvPr>
          <p:cNvSpPr txBox="1"/>
          <p:nvPr/>
        </p:nvSpPr>
        <p:spPr>
          <a:xfrm>
            <a:off x="3033065" y="1837944"/>
            <a:ext cx="1554480" cy="29260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Intake</a:t>
            </a:r>
            <a:endParaRPr lang="en-US" sz="1500" dirty="0"/>
          </a:p>
        </p:txBody>
      </p:sp>
      <p:sp>
        <p:nvSpPr>
          <p:cNvPr id="23" name="Text 10">
            <a:extLst>
              <a:ext uri="{FF2B5EF4-FFF2-40B4-BE49-F238E27FC236}">
                <a16:creationId xmlns:a16="http://schemas.microsoft.com/office/drawing/2014/main" id="{BBDB2CC0-F245-D4CF-F6ED-41D60C561209}"/>
              </a:ext>
            </a:extLst>
          </p:cNvPr>
          <p:cNvSpPr txBox="1"/>
          <p:nvPr/>
        </p:nvSpPr>
        <p:spPr>
          <a:xfrm>
            <a:off x="3033065" y="2148840"/>
            <a:ext cx="1554480" cy="621792"/>
          </a:xfrm>
          <a:prstGeom prst="rect">
            <a:avLst/>
          </a:prstGeom>
          <a:noFill/>
          <a:ln/>
        </p:spPr>
        <p:txBody>
          <a:bodyPr wrap="square" lIns="0" tIns="0" rIns="0" bIns="0" rtlCol="0" anchor="t"/>
          <a:lstStyle/>
          <a:p>
            <a:pPr marL="0" indent="0">
              <a:buNone/>
            </a:pPr>
            <a:r>
              <a:rPr lang="en-US" sz="1050" dirty="0">
                <a:solidFill>
                  <a:srgbClr val="B9C7DD"/>
                </a:solidFill>
                <a:latin typeface="Calibri" pitchFamily="34" charset="0"/>
                <a:ea typeface="Calibri" pitchFamily="34" charset="-122"/>
                <a:cs typeface="Calibri" pitchFamily="34" charset="-120"/>
              </a:rPr>
              <a:t>Domain and scale classified; input validated with a confidence score</a:t>
            </a:r>
            <a:endParaRPr lang="en-US" sz="1050" dirty="0"/>
          </a:p>
        </p:txBody>
      </p:sp>
      <p:sp>
        <p:nvSpPr>
          <p:cNvPr id="25" name="Shape 11">
            <a:extLst>
              <a:ext uri="{FF2B5EF4-FFF2-40B4-BE49-F238E27FC236}">
                <a16:creationId xmlns:a16="http://schemas.microsoft.com/office/drawing/2014/main" id="{7E9BA4C5-239D-C0F2-F03E-078347CEB2DC}"/>
              </a:ext>
            </a:extLst>
          </p:cNvPr>
          <p:cNvSpPr/>
          <p:nvPr/>
        </p:nvSpPr>
        <p:spPr>
          <a:xfrm>
            <a:off x="4779569" y="2171700"/>
            <a:ext cx="347472" cy="0"/>
          </a:xfrm>
          <a:prstGeom prst="line">
            <a:avLst/>
          </a:prstGeom>
          <a:noFill/>
          <a:ln w="28575">
            <a:solidFill>
              <a:srgbClr val="E0A243"/>
            </a:solidFill>
            <a:prstDash val="solid"/>
            <a:tailEnd type="triangle"/>
          </a:ln>
        </p:spPr>
      </p:sp>
      <p:sp>
        <p:nvSpPr>
          <p:cNvPr id="27" name="Shape 12">
            <a:extLst>
              <a:ext uri="{FF2B5EF4-FFF2-40B4-BE49-F238E27FC236}">
                <a16:creationId xmlns:a16="http://schemas.microsoft.com/office/drawing/2014/main" id="{0067C557-A85E-10B7-2233-05912AFAB954}"/>
              </a:ext>
            </a:extLst>
          </p:cNvPr>
          <p:cNvSpPr/>
          <p:nvPr/>
        </p:nvSpPr>
        <p:spPr>
          <a:xfrm>
            <a:off x="5181905" y="1508760"/>
            <a:ext cx="1828800" cy="1325880"/>
          </a:xfrm>
          <a:prstGeom prst="roundRect">
            <a:avLst>
              <a:gd name="adj" fmla="val 5517"/>
            </a:avLst>
          </a:prstGeom>
          <a:solidFill>
            <a:srgbClr val="0A1F3D"/>
          </a:solidFill>
          <a:ln w="15875">
            <a:solidFill>
              <a:srgbClr val="0A1F3D"/>
            </a:solidFill>
            <a:prstDash val="solid"/>
          </a:ln>
          <a:effectLst>
            <a:outerShdw blurRad="76200" dist="25400" dir="5400000" algn="bl" rotWithShape="0">
              <a:srgbClr val="000000">
                <a:alpha val="15000"/>
              </a:srgbClr>
            </a:outerShdw>
          </a:effectLst>
        </p:spPr>
      </p:sp>
      <p:sp>
        <p:nvSpPr>
          <p:cNvPr id="29" name="Text 13">
            <a:extLst>
              <a:ext uri="{FF2B5EF4-FFF2-40B4-BE49-F238E27FC236}">
                <a16:creationId xmlns:a16="http://schemas.microsoft.com/office/drawing/2014/main" id="{4EAC0096-A750-C633-2805-17AC8C17C82D}"/>
              </a:ext>
            </a:extLst>
          </p:cNvPr>
          <p:cNvSpPr txBox="1"/>
          <p:nvPr/>
        </p:nvSpPr>
        <p:spPr>
          <a:xfrm>
            <a:off x="5319065" y="1618488"/>
            <a:ext cx="1554480" cy="201168"/>
          </a:xfrm>
          <a:prstGeom prst="rect">
            <a:avLst/>
          </a:prstGeom>
          <a:noFill/>
          <a:ln/>
        </p:spPr>
        <p:txBody>
          <a:bodyPr wrap="square" lIns="0" tIns="0" rIns="0" bIns="0" rtlCol="0" anchor="ctr"/>
          <a:lstStyle/>
          <a:p>
            <a:pPr marL="0" indent="0">
              <a:buNone/>
            </a:pPr>
            <a:r>
              <a:rPr lang="en-US" sz="1000" b="1" kern="0" spc="200" dirty="0">
                <a:solidFill>
                  <a:srgbClr val="E0A243"/>
                </a:solidFill>
                <a:latin typeface="Calibri" pitchFamily="34" charset="0"/>
                <a:ea typeface="Calibri" pitchFamily="34" charset="-122"/>
                <a:cs typeface="Calibri" pitchFamily="34" charset="-120"/>
              </a:rPr>
              <a:t>02</a:t>
            </a:r>
            <a:endParaRPr lang="en-US" sz="1000" dirty="0"/>
          </a:p>
        </p:txBody>
      </p:sp>
      <p:sp>
        <p:nvSpPr>
          <p:cNvPr id="31" name="Text 14">
            <a:extLst>
              <a:ext uri="{FF2B5EF4-FFF2-40B4-BE49-F238E27FC236}">
                <a16:creationId xmlns:a16="http://schemas.microsoft.com/office/drawing/2014/main" id="{D23D4677-4DDC-C5CB-EBC0-A9E986826F21}"/>
              </a:ext>
            </a:extLst>
          </p:cNvPr>
          <p:cNvSpPr txBox="1"/>
          <p:nvPr/>
        </p:nvSpPr>
        <p:spPr>
          <a:xfrm>
            <a:off x="5319065" y="1837944"/>
            <a:ext cx="1554480" cy="29260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AI Discovery</a:t>
            </a:r>
            <a:endParaRPr lang="en-US" sz="1500" dirty="0"/>
          </a:p>
        </p:txBody>
      </p:sp>
      <p:sp>
        <p:nvSpPr>
          <p:cNvPr id="33" name="Text 15">
            <a:extLst>
              <a:ext uri="{FF2B5EF4-FFF2-40B4-BE49-F238E27FC236}">
                <a16:creationId xmlns:a16="http://schemas.microsoft.com/office/drawing/2014/main" id="{0C5120AA-BE11-FCC6-9F46-5A6C63B44B07}"/>
              </a:ext>
            </a:extLst>
          </p:cNvPr>
          <p:cNvSpPr txBox="1"/>
          <p:nvPr/>
        </p:nvSpPr>
        <p:spPr>
          <a:xfrm>
            <a:off x="5319065" y="2148840"/>
            <a:ext cx="1554480" cy="621792"/>
          </a:xfrm>
          <a:prstGeom prst="rect">
            <a:avLst/>
          </a:prstGeom>
          <a:noFill/>
          <a:ln/>
        </p:spPr>
        <p:txBody>
          <a:bodyPr wrap="square" lIns="0" tIns="0" rIns="0" bIns="0" rtlCol="0" anchor="t"/>
          <a:lstStyle/>
          <a:p>
            <a:pPr marL="0" indent="0">
              <a:buNone/>
            </a:pPr>
            <a:r>
              <a:rPr lang="en-US" sz="1050" dirty="0">
                <a:solidFill>
                  <a:srgbClr val="B9C7DD"/>
                </a:solidFill>
                <a:latin typeface="Calibri" pitchFamily="34" charset="0"/>
                <a:ea typeface="Calibri" pitchFamily="34" charset="-122"/>
                <a:cs typeface="Calibri" pitchFamily="34" charset="-120"/>
              </a:rPr>
              <a:t>Five questions: stakeholders, compliance, integrations, budget, load</a:t>
            </a:r>
            <a:endParaRPr lang="en-US" sz="1050" dirty="0"/>
          </a:p>
        </p:txBody>
      </p:sp>
      <p:sp>
        <p:nvSpPr>
          <p:cNvPr id="35" name="Shape 16">
            <a:extLst>
              <a:ext uri="{FF2B5EF4-FFF2-40B4-BE49-F238E27FC236}">
                <a16:creationId xmlns:a16="http://schemas.microsoft.com/office/drawing/2014/main" id="{509DEB08-D8A9-F77B-AC14-06A255819A7F}"/>
              </a:ext>
            </a:extLst>
          </p:cNvPr>
          <p:cNvSpPr/>
          <p:nvPr/>
        </p:nvSpPr>
        <p:spPr>
          <a:xfrm>
            <a:off x="7065569" y="2171700"/>
            <a:ext cx="347472" cy="0"/>
          </a:xfrm>
          <a:prstGeom prst="line">
            <a:avLst/>
          </a:prstGeom>
          <a:noFill/>
          <a:ln w="28575">
            <a:solidFill>
              <a:srgbClr val="E0A243"/>
            </a:solidFill>
            <a:prstDash val="solid"/>
            <a:tailEnd type="triangle"/>
          </a:ln>
        </p:spPr>
      </p:sp>
      <p:sp>
        <p:nvSpPr>
          <p:cNvPr id="37" name="Shape 17">
            <a:extLst>
              <a:ext uri="{FF2B5EF4-FFF2-40B4-BE49-F238E27FC236}">
                <a16:creationId xmlns:a16="http://schemas.microsoft.com/office/drawing/2014/main" id="{2908F555-D5E5-94D1-FD34-0DCF114B059D}"/>
              </a:ext>
            </a:extLst>
          </p:cNvPr>
          <p:cNvSpPr/>
          <p:nvPr/>
        </p:nvSpPr>
        <p:spPr>
          <a:xfrm>
            <a:off x="7467905" y="1508760"/>
            <a:ext cx="1828800" cy="1325880"/>
          </a:xfrm>
          <a:prstGeom prst="roundRect">
            <a:avLst>
              <a:gd name="adj" fmla="val 5517"/>
            </a:avLst>
          </a:prstGeom>
          <a:solidFill>
            <a:srgbClr val="0A1F3D"/>
          </a:solidFill>
          <a:ln w="15875">
            <a:solidFill>
              <a:srgbClr val="0A1F3D"/>
            </a:solidFill>
            <a:prstDash val="solid"/>
          </a:ln>
          <a:effectLst>
            <a:outerShdw blurRad="76200" dist="25400" dir="5400000" algn="bl" rotWithShape="0">
              <a:srgbClr val="000000">
                <a:alpha val="15000"/>
              </a:srgbClr>
            </a:outerShdw>
          </a:effectLst>
        </p:spPr>
      </p:sp>
      <p:sp>
        <p:nvSpPr>
          <p:cNvPr id="39" name="Text 18">
            <a:extLst>
              <a:ext uri="{FF2B5EF4-FFF2-40B4-BE49-F238E27FC236}">
                <a16:creationId xmlns:a16="http://schemas.microsoft.com/office/drawing/2014/main" id="{4B0AE69F-1E7C-E8D5-8035-50CD6D9D8961}"/>
              </a:ext>
            </a:extLst>
          </p:cNvPr>
          <p:cNvSpPr txBox="1"/>
          <p:nvPr/>
        </p:nvSpPr>
        <p:spPr>
          <a:xfrm>
            <a:off x="7605065" y="1618488"/>
            <a:ext cx="1554480" cy="201168"/>
          </a:xfrm>
          <a:prstGeom prst="rect">
            <a:avLst/>
          </a:prstGeom>
          <a:noFill/>
          <a:ln/>
        </p:spPr>
        <p:txBody>
          <a:bodyPr wrap="square" lIns="0" tIns="0" rIns="0" bIns="0" rtlCol="0" anchor="ctr"/>
          <a:lstStyle/>
          <a:p>
            <a:pPr marL="0" indent="0">
              <a:buNone/>
            </a:pPr>
            <a:r>
              <a:rPr lang="en-US" sz="1000" b="1" kern="0" spc="200" dirty="0">
                <a:solidFill>
                  <a:srgbClr val="E0A243"/>
                </a:solidFill>
                <a:latin typeface="Calibri" pitchFamily="34" charset="0"/>
                <a:ea typeface="Calibri" pitchFamily="34" charset="-122"/>
                <a:cs typeface="Calibri" pitchFamily="34" charset="-120"/>
              </a:rPr>
              <a:t>03</a:t>
            </a:r>
            <a:endParaRPr lang="en-US" sz="1000" dirty="0"/>
          </a:p>
        </p:txBody>
      </p:sp>
      <p:sp>
        <p:nvSpPr>
          <p:cNvPr id="41" name="Text 19">
            <a:extLst>
              <a:ext uri="{FF2B5EF4-FFF2-40B4-BE49-F238E27FC236}">
                <a16:creationId xmlns:a16="http://schemas.microsoft.com/office/drawing/2014/main" id="{D9ADCBBE-E71D-F830-EC5E-F5653B5B21A7}"/>
              </a:ext>
            </a:extLst>
          </p:cNvPr>
          <p:cNvSpPr txBox="1"/>
          <p:nvPr/>
        </p:nvSpPr>
        <p:spPr>
          <a:xfrm>
            <a:off x="7605065" y="1837944"/>
            <a:ext cx="1554480" cy="29260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Synthesis</a:t>
            </a:r>
            <a:endParaRPr lang="en-US" sz="1500" dirty="0"/>
          </a:p>
        </p:txBody>
      </p:sp>
      <p:sp>
        <p:nvSpPr>
          <p:cNvPr id="43" name="Text 20">
            <a:extLst>
              <a:ext uri="{FF2B5EF4-FFF2-40B4-BE49-F238E27FC236}">
                <a16:creationId xmlns:a16="http://schemas.microsoft.com/office/drawing/2014/main" id="{07DEDDE5-3F4C-3910-EE99-8FE1A455A3EE}"/>
              </a:ext>
            </a:extLst>
          </p:cNvPr>
          <p:cNvSpPr txBox="1"/>
          <p:nvPr/>
        </p:nvSpPr>
        <p:spPr>
          <a:xfrm>
            <a:off x="7605065" y="2148840"/>
            <a:ext cx="1554480" cy="621792"/>
          </a:xfrm>
          <a:prstGeom prst="rect">
            <a:avLst/>
          </a:prstGeom>
          <a:noFill/>
          <a:ln/>
        </p:spPr>
        <p:txBody>
          <a:bodyPr wrap="square" lIns="0" tIns="0" rIns="0" bIns="0" rtlCol="0" anchor="t"/>
          <a:lstStyle/>
          <a:p>
            <a:pPr marL="0" indent="0">
              <a:buNone/>
            </a:pPr>
            <a:r>
              <a:rPr lang="en-US" sz="1050" dirty="0">
                <a:solidFill>
                  <a:srgbClr val="B9C7DD"/>
                </a:solidFill>
                <a:latin typeface="Calibri" pitchFamily="34" charset="0"/>
                <a:ea typeface="Calibri" pitchFamily="34" charset="-122"/>
                <a:cs typeface="Calibri" pitchFamily="34" charset="-120"/>
              </a:rPr>
              <a:t>Parallel agents compile every deliverable at once</a:t>
            </a:r>
            <a:endParaRPr lang="en-US" sz="1050" dirty="0"/>
          </a:p>
        </p:txBody>
      </p:sp>
      <p:sp>
        <p:nvSpPr>
          <p:cNvPr id="45" name="Shape 21">
            <a:extLst>
              <a:ext uri="{FF2B5EF4-FFF2-40B4-BE49-F238E27FC236}">
                <a16:creationId xmlns:a16="http://schemas.microsoft.com/office/drawing/2014/main" id="{62BAA534-1E7E-6876-5BDC-69F961A02A29}"/>
              </a:ext>
            </a:extLst>
          </p:cNvPr>
          <p:cNvSpPr/>
          <p:nvPr/>
        </p:nvSpPr>
        <p:spPr>
          <a:xfrm>
            <a:off x="9351569" y="2171700"/>
            <a:ext cx="347472" cy="0"/>
          </a:xfrm>
          <a:prstGeom prst="line">
            <a:avLst/>
          </a:prstGeom>
          <a:noFill/>
          <a:ln w="28575">
            <a:solidFill>
              <a:srgbClr val="E0A243"/>
            </a:solidFill>
            <a:prstDash val="solid"/>
            <a:tailEnd type="triangle"/>
          </a:ln>
        </p:spPr>
      </p:sp>
      <p:sp>
        <p:nvSpPr>
          <p:cNvPr id="47" name="Shape 22">
            <a:extLst>
              <a:ext uri="{FF2B5EF4-FFF2-40B4-BE49-F238E27FC236}">
                <a16:creationId xmlns:a16="http://schemas.microsoft.com/office/drawing/2014/main" id="{B4D7DAF7-8F7C-5D5B-4A52-00F16DACD5F1}"/>
              </a:ext>
            </a:extLst>
          </p:cNvPr>
          <p:cNvSpPr/>
          <p:nvPr/>
        </p:nvSpPr>
        <p:spPr>
          <a:xfrm>
            <a:off x="9753905" y="1508760"/>
            <a:ext cx="1828800" cy="1325880"/>
          </a:xfrm>
          <a:prstGeom prst="roundRect">
            <a:avLst>
              <a:gd name="adj" fmla="val 5517"/>
            </a:avLst>
          </a:prstGeom>
          <a:solidFill>
            <a:srgbClr val="0A1F3D"/>
          </a:solidFill>
          <a:ln w="15875">
            <a:solidFill>
              <a:srgbClr val="0A1F3D"/>
            </a:solidFill>
            <a:prstDash val="solid"/>
          </a:ln>
          <a:effectLst>
            <a:outerShdw blurRad="76200" dist="25400" dir="5400000" algn="bl" rotWithShape="0">
              <a:srgbClr val="000000">
                <a:alpha val="15000"/>
              </a:srgbClr>
            </a:outerShdw>
          </a:effectLst>
        </p:spPr>
      </p:sp>
      <p:sp>
        <p:nvSpPr>
          <p:cNvPr id="49" name="Text 23">
            <a:extLst>
              <a:ext uri="{FF2B5EF4-FFF2-40B4-BE49-F238E27FC236}">
                <a16:creationId xmlns:a16="http://schemas.microsoft.com/office/drawing/2014/main" id="{91499A8B-5C7B-409A-9D4C-051BEA0AD000}"/>
              </a:ext>
            </a:extLst>
          </p:cNvPr>
          <p:cNvSpPr txBox="1"/>
          <p:nvPr/>
        </p:nvSpPr>
        <p:spPr>
          <a:xfrm>
            <a:off x="9891065" y="1618488"/>
            <a:ext cx="1554480" cy="201168"/>
          </a:xfrm>
          <a:prstGeom prst="rect">
            <a:avLst/>
          </a:prstGeom>
          <a:noFill/>
          <a:ln/>
        </p:spPr>
        <p:txBody>
          <a:bodyPr wrap="square" lIns="0" tIns="0" rIns="0" bIns="0" rtlCol="0" anchor="ctr"/>
          <a:lstStyle/>
          <a:p>
            <a:pPr marL="0" indent="0">
              <a:buNone/>
            </a:pPr>
            <a:r>
              <a:rPr lang="en-US" sz="1000" b="1" kern="0" spc="200" dirty="0">
                <a:solidFill>
                  <a:srgbClr val="E0A243"/>
                </a:solidFill>
                <a:latin typeface="Calibri" pitchFamily="34" charset="0"/>
                <a:ea typeface="Calibri" pitchFamily="34" charset="-122"/>
                <a:cs typeface="Calibri" pitchFamily="34" charset="-120"/>
              </a:rPr>
              <a:t>04</a:t>
            </a:r>
            <a:endParaRPr lang="en-US" sz="1000" dirty="0"/>
          </a:p>
        </p:txBody>
      </p:sp>
      <p:sp>
        <p:nvSpPr>
          <p:cNvPr id="51" name="Text 24">
            <a:extLst>
              <a:ext uri="{FF2B5EF4-FFF2-40B4-BE49-F238E27FC236}">
                <a16:creationId xmlns:a16="http://schemas.microsoft.com/office/drawing/2014/main" id="{42EA45EA-737A-79DC-E3D9-0122F9252C63}"/>
              </a:ext>
            </a:extLst>
          </p:cNvPr>
          <p:cNvSpPr txBox="1"/>
          <p:nvPr/>
        </p:nvSpPr>
        <p:spPr>
          <a:xfrm>
            <a:off x="9891065" y="1837944"/>
            <a:ext cx="1554480" cy="29260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Blueprint Hub</a:t>
            </a:r>
            <a:endParaRPr lang="en-US" sz="1500" dirty="0"/>
          </a:p>
        </p:txBody>
      </p:sp>
      <p:sp>
        <p:nvSpPr>
          <p:cNvPr id="53" name="Text 25">
            <a:extLst>
              <a:ext uri="{FF2B5EF4-FFF2-40B4-BE49-F238E27FC236}">
                <a16:creationId xmlns:a16="http://schemas.microsoft.com/office/drawing/2014/main" id="{953DF72C-3F88-AB66-5D07-C7906F371CA4}"/>
              </a:ext>
            </a:extLst>
          </p:cNvPr>
          <p:cNvSpPr txBox="1"/>
          <p:nvPr/>
        </p:nvSpPr>
        <p:spPr>
          <a:xfrm>
            <a:off x="9891065" y="2148840"/>
            <a:ext cx="1554480" cy="621792"/>
          </a:xfrm>
          <a:prstGeom prst="rect">
            <a:avLst/>
          </a:prstGeom>
          <a:noFill/>
          <a:ln/>
        </p:spPr>
        <p:txBody>
          <a:bodyPr wrap="square" lIns="0" tIns="0" rIns="0" bIns="0" rtlCol="0" anchor="t"/>
          <a:lstStyle/>
          <a:p>
            <a:pPr marL="0" indent="0">
              <a:buNone/>
            </a:pPr>
            <a:r>
              <a:rPr lang="en-US" sz="1050" dirty="0">
                <a:solidFill>
                  <a:srgbClr val="B9C7DD"/>
                </a:solidFill>
                <a:latin typeface="Calibri" pitchFamily="34" charset="0"/>
                <a:ea typeface="Calibri" pitchFamily="34" charset="-122"/>
                <a:cs typeface="Calibri" pitchFamily="34" charset="-120"/>
              </a:rPr>
              <a:t>Tabbed deliverables saved as version 1.0</a:t>
            </a:r>
            <a:endParaRPr lang="en-US" sz="1050" dirty="0"/>
          </a:p>
        </p:txBody>
      </p:sp>
      <p:sp>
        <p:nvSpPr>
          <p:cNvPr id="55" name="Shape 26">
            <a:extLst>
              <a:ext uri="{FF2B5EF4-FFF2-40B4-BE49-F238E27FC236}">
                <a16:creationId xmlns:a16="http://schemas.microsoft.com/office/drawing/2014/main" id="{E92A4F9D-6A50-59B8-C668-9B7545D283F1}"/>
              </a:ext>
            </a:extLst>
          </p:cNvPr>
          <p:cNvSpPr/>
          <p:nvPr/>
        </p:nvSpPr>
        <p:spPr>
          <a:xfrm>
            <a:off x="8382305" y="2834640"/>
            <a:ext cx="0" cy="594360"/>
          </a:xfrm>
          <a:prstGeom prst="line">
            <a:avLst/>
          </a:prstGeom>
          <a:noFill/>
          <a:ln w="22225">
            <a:solidFill>
              <a:srgbClr val="E0A243"/>
            </a:solidFill>
            <a:prstDash val="dash"/>
          </a:ln>
        </p:spPr>
      </p:sp>
      <p:sp>
        <p:nvSpPr>
          <p:cNvPr id="57" name="Shape 27">
            <a:extLst>
              <a:ext uri="{FF2B5EF4-FFF2-40B4-BE49-F238E27FC236}">
                <a16:creationId xmlns:a16="http://schemas.microsoft.com/office/drawing/2014/main" id="{02F57C9F-4707-463D-EC2B-431C3C3712BE}"/>
              </a:ext>
            </a:extLst>
          </p:cNvPr>
          <p:cNvSpPr/>
          <p:nvPr/>
        </p:nvSpPr>
        <p:spPr>
          <a:xfrm>
            <a:off x="609905" y="3429000"/>
            <a:ext cx="10972800" cy="2103120"/>
          </a:xfrm>
          <a:prstGeom prst="roundRect">
            <a:avLst>
              <a:gd name="adj" fmla="val 3478"/>
            </a:avLst>
          </a:prstGeom>
          <a:solidFill>
            <a:srgbClr val="FFFFFF"/>
          </a:solidFill>
          <a:ln w="12700">
            <a:solidFill>
              <a:srgbClr val="D5DBE6"/>
            </a:solidFill>
            <a:prstDash val="solid"/>
          </a:ln>
        </p:spPr>
      </p:sp>
      <p:sp>
        <p:nvSpPr>
          <p:cNvPr id="59" name="Text 28">
            <a:extLst>
              <a:ext uri="{FF2B5EF4-FFF2-40B4-BE49-F238E27FC236}">
                <a16:creationId xmlns:a16="http://schemas.microsoft.com/office/drawing/2014/main" id="{1A61F049-0BBD-BFD0-F529-912BD702CD4D}"/>
              </a:ext>
            </a:extLst>
          </p:cNvPr>
          <p:cNvSpPr txBox="1"/>
          <p:nvPr/>
        </p:nvSpPr>
        <p:spPr>
          <a:xfrm>
            <a:off x="838505" y="3557016"/>
            <a:ext cx="7315200" cy="228600"/>
          </a:xfrm>
          <a:prstGeom prst="rect">
            <a:avLst/>
          </a:prstGeom>
          <a:noFill/>
          <a:ln/>
        </p:spPr>
        <p:txBody>
          <a:bodyPr wrap="square" lIns="0" tIns="0" rIns="0" bIns="0" rtlCol="0" anchor="ctr"/>
          <a:lstStyle/>
          <a:p>
            <a:pPr marL="0" indent="0">
              <a:buNone/>
            </a:pPr>
            <a:r>
              <a:rPr lang="en-US" sz="1000" b="1" kern="0" spc="200" dirty="0">
                <a:solidFill>
                  <a:srgbClr val="5B6B82"/>
                </a:solidFill>
                <a:latin typeface="Calibri" pitchFamily="34" charset="0"/>
                <a:ea typeface="Calibri" pitchFamily="34" charset="-122"/>
                <a:cs typeface="Calibri" pitchFamily="34" charset="-120"/>
              </a:rPr>
              <a:t>INSIDE STEP 03  ·  PARALLEL MULTI-AGENT SYNTHESIS</a:t>
            </a:r>
            <a:endParaRPr lang="en-US" sz="1000" dirty="0"/>
          </a:p>
        </p:txBody>
      </p:sp>
      <p:sp>
        <p:nvSpPr>
          <p:cNvPr id="61" name="Shape 29">
            <a:extLst>
              <a:ext uri="{FF2B5EF4-FFF2-40B4-BE49-F238E27FC236}">
                <a16:creationId xmlns:a16="http://schemas.microsoft.com/office/drawing/2014/main" id="{DCEB0ED3-D4F3-E0A8-8799-ADE4D396F9D5}"/>
              </a:ext>
            </a:extLst>
          </p:cNvPr>
          <p:cNvSpPr/>
          <p:nvPr/>
        </p:nvSpPr>
        <p:spPr>
          <a:xfrm>
            <a:off x="838505" y="3931920"/>
            <a:ext cx="2286000" cy="1371600"/>
          </a:xfrm>
          <a:prstGeom prst="roundRect">
            <a:avLst>
              <a:gd name="adj" fmla="val 4000"/>
            </a:avLst>
          </a:prstGeom>
          <a:solidFill>
            <a:srgbClr val="FBF1DE"/>
          </a:solidFill>
          <a:ln w="15875">
            <a:solidFill>
              <a:srgbClr val="E0A243"/>
            </a:solidFill>
            <a:prstDash val="solid"/>
          </a:ln>
        </p:spPr>
      </p:sp>
      <p:sp>
        <p:nvSpPr>
          <p:cNvPr id="63" name="Text 30">
            <a:extLst>
              <a:ext uri="{FF2B5EF4-FFF2-40B4-BE49-F238E27FC236}">
                <a16:creationId xmlns:a16="http://schemas.microsoft.com/office/drawing/2014/main" id="{99BBAA99-DCB7-B91B-C8BC-BC9E610ADAA5}"/>
              </a:ext>
            </a:extLst>
          </p:cNvPr>
          <p:cNvSpPr txBox="1"/>
          <p:nvPr/>
        </p:nvSpPr>
        <p:spPr>
          <a:xfrm>
            <a:off x="975665" y="4096512"/>
            <a:ext cx="2011680" cy="457200"/>
          </a:xfrm>
          <a:prstGeom prst="rect">
            <a:avLst/>
          </a:prstGeom>
          <a:noFill/>
          <a:ln/>
        </p:spPr>
        <p:txBody>
          <a:bodyPr wrap="square" lIns="0" tIns="0" rIns="0" bIns="0" rtlCol="0" anchor="t"/>
          <a:lstStyle/>
          <a:p>
            <a:pPr marL="0" indent="0">
              <a:buNone/>
            </a:pPr>
            <a:r>
              <a:rPr lang="en-US" sz="1400" b="1" dirty="0">
                <a:solidFill>
                  <a:srgbClr val="0A1F3D"/>
                </a:solidFill>
                <a:latin typeface="Cambria" pitchFamily="34" charset="0"/>
                <a:ea typeface="Cambria" pitchFamily="34" charset="-122"/>
                <a:cs typeface="Cambria" pitchFamily="34" charset="-120"/>
              </a:rPr>
              <a:t>Shared discovery answers</a:t>
            </a:r>
            <a:endParaRPr lang="en-US" sz="1400" dirty="0"/>
          </a:p>
        </p:txBody>
      </p:sp>
      <p:sp>
        <p:nvSpPr>
          <p:cNvPr id="65" name="Text 31">
            <a:extLst>
              <a:ext uri="{FF2B5EF4-FFF2-40B4-BE49-F238E27FC236}">
                <a16:creationId xmlns:a16="http://schemas.microsoft.com/office/drawing/2014/main" id="{97C2AC04-EE6E-71E1-4BC5-3BC0995B92ED}"/>
              </a:ext>
            </a:extLst>
          </p:cNvPr>
          <p:cNvSpPr txBox="1"/>
          <p:nvPr/>
        </p:nvSpPr>
        <p:spPr>
          <a:xfrm>
            <a:off x="975665" y="4590288"/>
            <a:ext cx="2011680" cy="6400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Five of five clarified. One source of truth keeps every deliverable consistent.</a:t>
            </a:r>
            <a:endParaRPr lang="en-US" sz="1050" dirty="0"/>
          </a:p>
        </p:txBody>
      </p:sp>
      <p:sp>
        <p:nvSpPr>
          <p:cNvPr id="67" name="Shape 32">
            <a:extLst>
              <a:ext uri="{FF2B5EF4-FFF2-40B4-BE49-F238E27FC236}">
                <a16:creationId xmlns:a16="http://schemas.microsoft.com/office/drawing/2014/main" id="{14DA09C3-257A-4397-D18C-494816C95E85}"/>
              </a:ext>
            </a:extLst>
          </p:cNvPr>
          <p:cNvSpPr/>
          <p:nvPr/>
        </p:nvSpPr>
        <p:spPr>
          <a:xfrm>
            <a:off x="3673145" y="3931920"/>
            <a:ext cx="3200400" cy="384048"/>
          </a:xfrm>
          <a:prstGeom prst="roundRect">
            <a:avLst>
              <a:gd name="adj" fmla="val 14286"/>
            </a:avLst>
          </a:prstGeom>
          <a:solidFill>
            <a:srgbClr val="0A1F3D"/>
          </a:solidFill>
          <a:ln w="12700">
            <a:solidFill>
              <a:srgbClr val="0A1F3D"/>
            </a:solidFill>
            <a:prstDash val="solid"/>
          </a:ln>
        </p:spPr>
      </p:sp>
      <p:sp>
        <p:nvSpPr>
          <p:cNvPr id="69" name="Text 33">
            <a:extLst>
              <a:ext uri="{FF2B5EF4-FFF2-40B4-BE49-F238E27FC236}">
                <a16:creationId xmlns:a16="http://schemas.microsoft.com/office/drawing/2014/main" id="{29441D3A-AE57-3471-B659-F48B6FEBD584}"/>
              </a:ext>
            </a:extLst>
          </p:cNvPr>
          <p:cNvSpPr txBox="1"/>
          <p:nvPr/>
        </p:nvSpPr>
        <p:spPr>
          <a:xfrm>
            <a:off x="3810305" y="3931920"/>
            <a:ext cx="2926080" cy="384048"/>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Calibri" pitchFamily="34" charset="0"/>
                <a:ea typeface="Calibri" pitchFamily="34" charset="-122"/>
                <a:cs typeface="Calibri" pitchFamily="34" charset="-120"/>
              </a:rPr>
              <a:t>BRD &amp; stakeholder agent</a:t>
            </a:r>
            <a:r>
              <a:rPr lang="en-US" sz="1000" dirty="0">
                <a:solidFill>
                  <a:srgbClr val="B9C7DD"/>
                </a:solidFill>
                <a:latin typeface="Calibri" pitchFamily="34" charset="0"/>
                <a:ea typeface="Calibri" pitchFamily="34" charset="-122"/>
                <a:cs typeface="Calibri" pitchFamily="34" charset="-120"/>
              </a:rPr>
              <a:t>   Drafts the BRD</a:t>
            </a:r>
            <a:endParaRPr lang="en-US" sz="1150" dirty="0"/>
          </a:p>
        </p:txBody>
      </p:sp>
      <p:sp>
        <p:nvSpPr>
          <p:cNvPr id="71" name="Shape 34">
            <a:extLst>
              <a:ext uri="{FF2B5EF4-FFF2-40B4-BE49-F238E27FC236}">
                <a16:creationId xmlns:a16="http://schemas.microsoft.com/office/drawing/2014/main" id="{31799878-40C2-89AB-A7B1-3157BE42BF64}"/>
              </a:ext>
            </a:extLst>
          </p:cNvPr>
          <p:cNvSpPr/>
          <p:nvPr/>
        </p:nvSpPr>
        <p:spPr>
          <a:xfrm>
            <a:off x="3179369" y="4123944"/>
            <a:ext cx="438912" cy="0"/>
          </a:xfrm>
          <a:prstGeom prst="line">
            <a:avLst/>
          </a:prstGeom>
          <a:noFill/>
          <a:ln w="22225">
            <a:solidFill>
              <a:srgbClr val="E0A243"/>
            </a:solidFill>
            <a:prstDash val="solid"/>
            <a:tailEnd type="triangle"/>
          </a:ln>
        </p:spPr>
      </p:sp>
      <p:sp>
        <p:nvSpPr>
          <p:cNvPr id="73" name="Shape 35">
            <a:extLst>
              <a:ext uri="{FF2B5EF4-FFF2-40B4-BE49-F238E27FC236}">
                <a16:creationId xmlns:a16="http://schemas.microsoft.com/office/drawing/2014/main" id="{09B17B7E-FC2F-957D-A640-1347F8A7A22C}"/>
              </a:ext>
            </a:extLst>
          </p:cNvPr>
          <p:cNvSpPr/>
          <p:nvPr/>
        </p:nvSpPr>
        <p:spPr>
          <a:xfrm>
            <a:off x="3673145" y="4425696"/>
            <a:ext cx="3200400" cy="384048"/>
          </a:xfrm>
          <a:prstGeom prst="roundRect">
            <a:avLst>
              <a:gd name="adj" fmla="val 14286"/>
            </a:avLst>
          </a:prstGeom>
          <a:solidFill>
            <a:srgbClr val="0A1F3D"/>
          </a:solidFill>
          <a:ln w="12700">
            <a:solidFill>
              <a:srgbClr val="0A1F3D"/>
            </a:solidFill>
            <a:prstDash val="solid"/>
          </a:ln>
        </p:spPr>
      </p:sp>
      <p:sp>
        <p:nvSpPr>
          <p:cNvPr id="75" name="Text 36">
            <a:extLst>
              <a:ext uri="{FF2B5EF4-FFF2-40B4-BE49-F238E27FC236}">
                <a16:creationId xmlns:a16="http://schemas.microsoft.com/office/drawing/2014/main" id="{68A9DEC7-7194-12DE-55B3-315620BC66DA}"/>
              </a:ext>
            </a:extLst>
          </p:cNvPr>
          <p:cNvSpPr txBox="1"/>
          <p:nvPr/>
        </p:nvSpPr>
        <p:spPr>
          <a:xfrm>
            <a:off x="3810305" y="4425696"/>
            <a:ext cx="2926080" cy="384048"/>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Calibri" pitchFamily="34" charset="0"/>
                <a:ea typeface="Calibri" pitchFamily="34" charset="-122"/>
                <a:cs typeface="Calibri" pitchFamily="34" charset="-120"/>
              </a:rPr>
              <a:t>Architecture agent</a:t>
            </a:r>
            <a:r>
              <a:rPr lang="en-US" sz="1000" dirty="0">
                <a:solidFill>
                  <a:srgbClr val="B9C7DD"/>
                </a:solidFill>
                <a:latin typeface="Calibri" pitchFamily="34" charset="0"/>
                <a:ea typeface="Calibri" pitchFamily="34" charset="-122"/>
                <a:cs typeface="Calibri" pitchFamily="34" charset="-120"/>
              </a:rPr>
              <a:t>   Designs the system and data</a:t>
            </a:r>
            <a:endParaRPr lang="en-US" sz="1150" dirty="0"/>
          </a:p>
        </p:txBody>
      </p:sp>
      <p:sp>
        <p:nvSpPr>
          <p:cNvPr id="77" name="Shape 37">
            <a:extLst>
              <a:ext uri="{FF2B5EF4-FFF2-40B4-BE49-F238E27FC236}">
                <a16:creationId xmlns:a16="http://schemas.microsoft.com/office/drawing/2014/main" id="{3A4EE6C0-A159-A3AD-5AA8-6938D5EF9DDF}"/>
              </a:ext>
            </a:extLst>
          </p:cNvPr>
          <p:cNvSpPr/>
          <p:nvPr/>
        </p:nvSpPr>
        <p:spPr>
          <a:xfrm>
            <a:off x="3179369" y="4617720"/>
            <a:ext cx="438912" cy="0"/>
          </a:xfrm>
          <a:prstGeom prst="line">
            <a:avLst/>
          </a:prstGeom>
          <a:noFill/>
          <a:ln w="22225">
            <a:solidFill>
              <a:srgbClr val="E0A243"/>
            </a:solidFill>
            <a:prstDash val="solid"/>
            <a:tailEnd type="triangle"/>
          </a:ln>
        </p:spPr>
      </p:sp>
      <p:sp>
        <p:nvSpPr>
          <p:cNvPr id="79" name="Shape 38">
            <a:extLst>
              <a:ext uri="{FF2B5EF4-FFF2-40B4-BE49-F238E27FC236}">
                <a16:creationId xmlns:a16="http://schemas.microsoft.com/office/drawing/2014/main" id="{CF07FAAD-D2FA-DF90-520E-B14D05E1C55D}"/>
              </a:ext>
            </a:extLst>
          </p:cNvPr>
          <p:cNvSpPr/>
          <p:nvPr/>
        </p:nvSpPr>
        <p:spPr>
          <a:xfrm>
            <a:off x="3673145" y="4919472"/>
            <a:ext cx="3200400" cy="384048"/>
          </a:xfrm>
          <a:prstGeom prst="roundRect">
            <a:avLst>
              <a:gd name="adj" fmla="val 14286"/>
            </a:avLst>
          </a:prstGeom>
          <a:solidFill>
            <a:srgbClr val="0A1F3D"/>
          </a:solidFill>
          <a:ln w="12700">
            <a:solidFill>
              <a:srgbClr val="0A1F3D"/>
            </a:solidFill>
            <a:prstDash val="solid"/>
          </a:ln>
        </p:spPr>
      </p:sp>
      <p:sp>
        <p:nvSpPr>
          <p:cNvPr id="81" name="Text 39">
            <a:extLst>
              <a:ext uri="{FF2B5EF4-FFF2-40B4-BE49-F238E27FC236}">
                <a16:creationId xmlns:a16="http://schemas.microsoft.com/office/drawing/2014/main" id="{C22CB02D-802C-B42C-742F-B7409D5F7537}"/>
              </a:ext>
            </a:extLst>
          </p:cNvPr>
          <p:cNvSpPr txBox="1"/>
          <p:nvPr/>
        </p:nvSpPr>
        <p:spPr>
          <a:xfrm>
            <a:off x="3810305" y="4919472"/>
            <a:ext cx="2926080" cy="384048"/>
          </a:xfrm>
          <a:prstGeom prst="rect">
            <a:avLst/>
          </a:prstGeom>
          <a:noFill/>
          <a:ln/>
        </p:spPr>
        <p:txBody>
          <a:bodyPr wrap="square" lIns="0" tIns="0" rIns="0" bIns="0" rtlCol="0" anchor="ctr">
            <a:normAutofit/>
          </a:bodyPr>
          <a:lstStyle/>
          <a:p>
            <a:pPr marL="0" indent="0">
              <a:buNone/>
            </a:pPr>
            <a:r>
              <a:rPr lang="en-US" sz="1150" b="1" dirty="0">
                <a:solidFill>
                  <a:srgbClr val="FFFFFF"/>
                </a:solidFill>
                <a:latin typeface="Calibri" pitchFamily="34" charset="0"/>
                <a:ea typeface="Calibri" pitchFamily="34" charset="-122"/>
                <a:cs typeface="Calibri" pitchFamily="34" charset="-120"/>
              </a:rPr>
              <a:t>Planning engine</a:t>
            </a:r>
            <a:r>
              <a:rPr lang="en-US" sz="1000" dirty="0">
                <a:solidFill>
                  <a:srgbClr val="B9C7DD"/>
                </a:solidFill>
                <a:latin typeface="Calibri" pitchFamily="34" charset="0"/>
                <a:ea typeface="Calibri" pitchFamily="34" charset="-122"/>
                <a:cs typeface="Calibri" pitchFamily="34" charset="-120"/>
              </a:rPr>
              <a:t>   Estimates effort and phases</a:t>
            </a:r>
            <a:endParaRPr lang="en-US" sz="1150" dirty="0"/>
          </a:p>
        </p:txBody>
      </p:sp>
      <p:sp>
        <p:nvSpPr>
          <p:cNvPr id="83" name="Shape 40">
            <a:extLst>
              <a:ext uri="{FF2B5EF4-FFF2-40B4-BE49-F238E27FC236}">
                <a16:creationId xmlns:a16="http://schemas.microsoft.com/office/drawing/2014/main" id="{F8D6C89E-49A0-8A4B-CAE4-05BDD3809395}"/>
              </a:ext>
            </a:extLst>
          </p:cNvPr>
          <p:cNvSpPr/>
          <p:nvPr/>
        </p:nvSpPr>
        <p:spPr>
          <a:xfrm>
            <a:off x="3179369" y="5111496"/>
            <a:ext cx="438912" cy="0"/>
          </a:xfrm>
          <a:prstGeom prst="line">
            <a:avLst/>
          </a:prstGeom>
          <a:noFill/>
          <a:ln w="22225">
            <a:solidFill>
              <a:srgbClr val="E0A243"/>
            </a:solidFill>
            <a:prstDash val="solid"/>
            <a:tailEnd type="triangle"/>
          </a:ln>
        </p:spPr>
      </p:sp>
      <p:sp>
        <p:nvSpPr>
          <p:cNvPr id="85" name="Shape 41">
            <a:extLst>
              <a:ext uri="{FF2B5EF4-FFF2-40B4-BE49-F238E27FC236}">
                <a16:creationId xmlns:a16="http://schemas.microsoft.com/office/drawing/2014/main" id="{DBD3E746-4380-E698-CF03-99034BE9FC0E}"/>
              </a:ext>
            </a:extLst>
          </p:cNvPr>
          <p:cNvSpPr/>
          <p:nvPr/>
        </p:nvSpPr>
        <p:spPr>
          <a:xfrm>
            <a:off x="7422185" y="3931920"/>
            <a:ext cx="1911096" cy="384048"/>
          </a:xfrm>
          <a:prstGeom prst="roundRect">
            <a:avLst>
              <a:gd name="adj" fmla="val 50000"/>
            </a:avLst>
          </a:prstGeom>
          <a:solidFill>
            <a:srgbClr val="FBF1DE"/>
          </a:solidFill>
          <a:ln w="12700">
            <a:solidFill>
              <a:srgbClr val="E0A243"/>
            </a:solidFill>
            <a:prstDash val="solid"/>
          </a:ln>
        </p:spPr>
      </p:sp>
      <p:sp>
        <p:nvSpPr>
          <p:cNvPr id="87" name="Text 42">
            <a:extLst>
              <a:ext uri="{FF2B5EF4-FFF2-40B4-BE49-F238E27FC236}">
                <a16:creationId xmlns:a16="http://schemas.microsoft.com/office/drawing/2014/main" id="{6D88840D-1E1A-5D0E-1C9D-D429A79B9ED0}"/>
              </a:ext>
            </a:extLst>
          </p:cNvPr>
          <p:cNvSpPr txBox="1"/>
          <p:nvPr/>
        </p:nvSpPr>
        <p:spPr>
          <a:xfrm>
            <a:off x="7513625" y="3931920"/>
            <a:ext cx="1728216" cy="384048"/>
          </a:xfrm>
          <a:prstGeom prst="rect">
            <a:avLst/>
          </a:prstGeom>
          <a:noFill/>
          <a:ln/>
        </p:spPr>
        <p:txBody>
          <a:bodyPr wrap="square" lIns="0" tIns="0" rIns="0" bIns="0" rtlCol="0" anchor="ctr">
            <a:normAutofit/>
          </a:bodyPr>
          <a:lstStyle/>
          <a:p>
            <a:pPr marL="0" indent="0" algn="ctr">
              <a:buNone/>
            </a:pPr>
            <a:r>
              <a:rPr lang="en-US" sz="1050" b="1" dirty="0">
                <a:solidFill>
                  <a:srgbClr val="0A1F3D"/>
                </a:solidFill>
                <a:latin typeface="Calibri" pitchFamily="34" charset="0"/>
                <a:ea typeface="Calibri" pitchFamily="34" charset="-122"/>
                <a:cs typeface="Calibri" pitchFamily="34" charset="-120"/>
              </a:rPr>
              <a:t>Executive BRD</a:t>
            </a:r>
            <a:endParaRPr lang="en-US" sz="1050" dirty="0"/>
          </a:p>
        </p:txBody>
      </p:sp>
      <p:sp>
        <p:nvSpPr>
          <p:cNvPr id="89" name="Shape 43">
            <a:extLst>
              <a:ext uri="{FF2B5EF4-FFF2-40B4-BE49-F238E27FC236}">
                <a16:creationId xmlns:a16="http://schemas.microsoft.com/office/drawing/2014/main" id="{EBBAE173-4C50-2C9A-49B2-C1F19987A040}"/>
              </a:ext>
            </a:extLst>
          </p:cNvPr>
          <p:cNvSpPr/>
          <p:nvPr/>
        </p:nvSpPr>
        <p:spPr>
          <a:xfrm>
            <a:off x="9443009" y="3931920"/>
            <a:ext cx="1911096" cy="384048"/>
          </a:xfrm>
          <a:prstGeom prst="roundRect">
            <a:avLst>
              <a:gd name="adj" fmla="val 50000"/>
            </a:avLst>
          </a:prstGeom>
          <a:solidFill>
            <a:srgbClr val="FBF1DE"/>
          </a:solidFill>
          <a:ln w="12700">
            <a:solidFill>
              <a:srgbClr val="E0A243"/>
            </a:solidFill>
            <a:prstDash val="solid"/>
          </a:ln>
        </p:spPr>
      </p:sp>
      <p:sp>
        <p:nvSpPr>
          <p:cNvPr id="91" name="Text 44">
            <a:extLst>
              <a:ext uri="{FF2B5EF4-FFF2-40B4-BE49-F238E27FC236}">
                <a16:creationId xmlns:a16="http://schemas.microsoft.com/office/drawing/2014/main" id="{02E81A4D-6350-A2A9-8DE9-7F0DABD406AA}"/>
              </a:ext>
            </a:extLst>
          </p:cNvPr>
          <p:cNvSpPr txBox="1"/>
          <p:nvPr/>
        </p:nvSpPr>
        <p:spPr>
          <a:xfrm>
            <a:off x="9534449" y="3931920"/>
            <a:ext cx="1728216" cy="384048"/>
          </a:xfrm>
          <a:prstGeom prst="rect">
            <a:avLst/>
          </a:prstGeom>
          <a:noFill/>
          <a:ln/>
        </p:spPr>
        <p:txBody>
          <a:bodyPr wrap="square" lIns="0" tIns="0" rIns="0" bIns="0" rtlCol="0" anchor="ctr">
            <a:normAutofit/>
          </a:bodyPr>
          <a:lstStyle/>
          <a:p>
            <a:pPr marL="0" indent="0" algn="ctr">
              <a:buNone/>
            </a:pPr>
            <a:r>
              <a:rPr lang="en-US" sz="1050" b="1" dirty="0">
                <a:solidFill>
                  <a:srgbClr val="0A1F3D"/>
                </a:solidFill>
                <a:latin typeface="Calibri" pitchFamily="34" charset="0"/>
                <a:ea typeface="Calibri" pitchFamily="34" charset="-122"/>
                <a:cs typeface="Calibri" pitchFamily="34" charset="-120"/>
              </a:rPr>
              <a:t>Solution architecture</a:t>
            </a:r>
            <a:endParaRPr lang="en-US" sz="1050" dirty="0"/>
          </a:p>
        </p:txBody>
      </p:sp>
      <p:sp>
        <p:nvSpPr>
          <p:cNvPr id="93" name="Shape 45">
            <a:extLst>
              <a:ext uri="{FF2B5EF4-FFF2-40B4-BE49-F238E27FC236}">
                <a16:creationId xmlns:a16="http://schemas.microsoft.com/office/drawing/2014/main" id="{E6D1CBCA-B342-50A5-8D2D-007580A6B794}"/>
              </a:ext>
            </a:extLst>
          </p:cNvPr>
          <p:cNvSpPr/>
          <p:nvPr/>
        </p:nvSpPr>
        <p:spPr>
          <a:xfrm>
            <a:off x="7422185" y="4425696"/>
            <a:ext cx="1911096" cy="384048"/>
          </a:xfrm>
          <a:prstGeom prst="roundRect">
            <a:avLst>
              <a:gd name="adj" fmla="val 50000"/>
            </a:avLst>
          </a:prstGeom>
          <a:solidFill>
            <a:srgbClr val="FBF1DE"/>
          </a:solidFill>
          <a:ln w="12700">
            <a:solidFill>
              <a:srgbClr val="E0A243"/>
            </a:solidFill>
            <a:prstDash val="solid"/>
          </a:ln>
        </p:spPr>
      </p:sp>
      <p:sp>
        <p:nvSpPr>
          <p:cNvPr id="95" name="Text 46">
            <a:extLst>
              <a:ext uri="{FF2B5EF4-FFF2-40B4-BE49-F238E27FC236}">
                <a16:creationId xmlns:a16="http://schemas.microsoft.com/office/drawing/2014/main" id="{9BB76F49-31EF-E38B-D90E-FEC43134D28A}"/>
              </a:ext>
            </a:extLst>
          </p:cNvPr>
          <p:cNvSpPr txBox="1"/>
          <p:nvPr/>
        </p:nvSpPr>
        <p:spPr>
          <a:xfrm>
            <a:off x="7513625" y="4425696"/>
            <a:ext cx="1728216" cy="384048"/>
          </a:xfrm>
          <a:prstGeom prst="rect">
            <a:avLst/>
          </a:prstGeom>
          <a:noFill/>
          <a:ln/>
        </p:spPr>
        <p:txBody>
          <a:bodyPr wrap="square" lIns="0" tIns="0" rIns="0" bIns="0" rtlCol="0" anchor="ctr">
            <a:normAutofit/>
          </a:bodyPr>
          <a:lstStyle/>
          <a:p>
            <a:pPr marL="0" indent="0" algn="ctr">
              <a:buNone/>
            </a:pPr>
            <a:r>
              <a:rPr lang="en-US" sz="1050" b="1" dirty="0">
                <a:solidFill>
                  <a:srgbClr val="0A1F3D"/>
                </a:solidFill>
                <a:latin typeface="Calibri" pitchFamily="34" charset="0"/>
                <a:ea typeface="Calibri" pitchFamily="34" charset="-122"/>
                <a:cs typeface="Calibri" pitchFamily="34" charset="-120"/>
              </a:rPr>
              <a:t>Process flow (BPMN)</a:t>
            </a:r>
            <a:endParaRPr lang="en-US" sz="1050" dirty="0"/>
          </a:p>
        </p:txBody>
      </p:sp>
      <p:sp>
        <p:nvSpPr>
          <p:cNvPr id="97" name="Shape 47">
            <a:extLst>
              <a:ext uri="{FF2B5EF4-FFF2-40B4-BE49-F238E27FC236}">
                <a16:creationId xmlns:a16="http://schemas.microsoft.com/office/drawing/2014/main" id="{183379C8-0E5F-8BF8-9C6D-9A3BE65607D4}"/>
              </a:ext>
            </a:extLst>
          </p:cNvPr>
          <p:cNvSpPr/>
          <p:nvPr/>
        </p:nvSpPr>
        <p:spPr>
          <a:xfrm>
            <a:off x="9443009" y="4425696"/>
            <a:ext cx="1911096" cy="384048"/>
          </a:xfrm>
          <a:prstGeom prst="roundRect">
            <a:avLst>
              <a:gd name="adj" fmla="val 50000"/>
            </a:avLst>
          </a:prstGeom>
          <a:solidFill>
            <a:srgbClr val="FBF1DE"/>
          </a:solidFill>
          <a:ln w="12700">
            <a:solidFill>
              <a:srgbClr val="E0A243"/>
            </a:solidFill>
            <a:prstDash val="solid"/>
          </a:ln>
        </p:spPr>
      </p:sp>
      <p:sp>
        <p:nvSpPr>
          <p:cNvPr id="99" name="Text 48">
            <a:extLst>
              <a:ext uri="{FF2B5EF4-FFF2-40B4-BE49-F238E27FC236}">
                <a16:creationId xmlns:a16="http://schemas.microsoft.com/office/drawing/2014/main" id="{FE4F49FA-2597-577F-8392-7A4168A8942D}"/>
              </a:ext>
            </a:extLst>
          </p:cNvPr>
          <p:cNvSpPr txBox="1"/>
          <p:nvPr/>
        </p:nvSpPr>
        <p:spPr>
          <a:xfrm>
            <a:off x="9534449" y="4425696"/>
            <a:ext cx="1728216" cy="384048"/>
          </a:xfrm>
          <a:prstGeom prst="rect">
            <a:avLst/>
          </a:prstGeom>
          <a:noFill/>
          <a:ln/>
        </p:spPr>
        <p:txBody>
          <a:bodyPr wrap="square" lIns="0" tIns="0" rIns="0" bIns="0" rtlCol="0" anchor="ctr">
            <a:normAutofit/>
          </a:bodyPr>
          <a:lstStyle/>
          <a:p>
            <a:pPr marL="0" indent="0" algn="ctr">
              <a:buNone/>
            </a:pPr>
            <a:r>
              <a:rPr lang="en-US" sz="1050" b="1" dirty="0">
                <a:solidFill>
                  <a:srgbClr val="0A1F3D"/>
                </a:solidFill>
                <a:latin typeface="Calibri" pitchFamily="34" charset="0"/>
                <a:ea typeface="Calibri" pitchFamily="34" charset="-122"/>
                <a:cs typeface="Calibri" pitchFamily="34" charset="-120"/>
              </a:rPr>
              <a:t>Database &amp; REST APIs</a:t>
            </a:r>
            <a:endParaRPr lang="en-US" sz="1050" dirty="0"/>
          </a:p>
        </p:txBody>
      </p:sp>
      <p:sp>
        <p:nvSpPr>
          <p:cNvPr id="101" name="Shape 49">
            <a:extLst>
              <a:ext uri="{FF2B5EF4-FFF2-40B4-BE49-F238E27FC236}">
                <a16:creationId xmlns:a16="http://schemas.microsoft.com/office/drawing/2014/main" id="{779837F8-FD15-0735-5CDC-F6E3D81FB797}"/>
              </a:ext>
            </a:extLst>
          </p:cNvPr>
          <p:cNvSpPr/>
          <p:nvPr/>
        </p:nvSpPr>
        <p:spPr>
          <a:xfrm>
            <a:off x="7422185" y="4919472"/>
            <a:ext cx="1911096" cy="384048"/>
          </a:xfrm>
          <a:prstGeom prst="roundRect">
            <a:avLst>
              <a:gd name="adj" fmla="val 50000"/>
            </a:avLst>
          </a:prstGeom>
          <a:solidFill>
            <a:srgbClr val="FBF1DE"/>
          </a:solidFill>
          <a:ln w="12700">
            <a:solidFill>
              <a:srgbClr val="E0A243"/>
            </a:solidFill>
            <a:prstDash val="solid"/>
          </a:ln>
        </p:spPr>
      </p:sp>
      <p:sp>
        <p:nvSpPr>
          <p:cNvPr id="103" name="Text 50">
            <a:extLst>
              <a:ext uri="{FF2B5EF4-FFF2-40B4-BE49-F238E27FC236}">
                <a16:creationId xmlns:a16="http://schemas.microsoft.com/office/drawing/2014/main" id="{2DA80A22-F57C-E980-737B-CD3A02D6452F}"/>
              </a:ext>
            </a:extLst>
          </p:cNvPr>
          <p:cNvSpPr txBox="1"/>
          <p:nvPr/>
        </p:nvSpPr>
        <p:spPr>
          <a:xfrm>
            <a:off x="7513625" y="4919472"/>
            <a:ext cx="1728216" cy="384048"/>
          </a:xfrm>
          <a:prstGeom prst="rect">
            <a:avLst/>
          </a:prstGeom>
          <a:noFill/>
          <a:ln/>
        </p:spPr>
        <p:txBody>
          <a:bodyPr wrap="square" lIns="0" tIns="0" rIns="0" bIns="0" rtlCol="0" anchor="ctr">
            <a:normAutofit/>
          </a:bodyPr>
          <a:lstStyle/>
          <a:p>
            <a:pPr marL="0" indent="0" algn="ctr">
              <a:buNone/>
            </a:pPr>
            <a:r>
              <a:rPr lang="en-US" sz="1050" b="1" dirty="0">
                <a:solidFill>
                  <a:srgbClr val="0A1F3D"/>
                </a:solidFill>
                <a:latin typeface="Calibri" pitchFamily="34" charset="0"/>
                <a:ea typeface="Calibri" pitchFamily="34" charset="-122"/>
                <a:cs typeface="Calibri" pitchFamily="34" charset="-120"/>
              </a:rPr>
              <a:t>UX wireframes</a:t>
            </a:r>
            <a:endParaRPr lang="en-US" sz="1050" dirty="0"/>
          </a:p>
        </p:txBody>
      </p:sp>
      <p:sp>
        <p:nvSpPr>
          <p:cNvPr id="105" name="Shape 51">
            <a:extLst>
              <a:ext uri="{FF2B5EF4-FFF2-40B4-BE49-F238E27FC236}">
                <a16:creationId xmlns:a16="http://schemas.microsoft.com/office/drawing/2014/main" id="{8064FF77-01A0-119A-3BCB-6C6AE187B587}"/>
              </a:ext>
            </a:extLst>
          </p:cNvPr>
          <p:cNvSpPr/>
          <p:nvPr/>
        </p:nvSpPr>
        <p:spPr>
          <a:xfrm>
            <a:off x="9443009" y="4919472"/>
            <a:ext cx="1911096" cy="384048"/>
          </a:xfrm>
          <a:prstGeom prst="roundRect">
            <a:avLst>
              <a:gd name="adj" fmla="val 50000"/>
            </a:avLst>
          </a:prstGeom>
          <a:solidFill>
            <a:srgbClr val="FBF1DE"/>
          </a:solidFill>
          <a:ln w="12700">
            <a:solidFill>
              <a:srgbClr val="E0A243"/>
            </a:solidFill>
            <a:prstDash val="solid"/>
          </a:ln>
        </p:spPr>
      </p:sp>
      <p:sp>
        <p:nvSpPr>
          <p:cNvPr id="107" name="Text 52">
            <a:extLst>
              <a:ext uri="{FF2B5EF4-FFF2-40B4-BE49-F238E27FC236}">
                <a16:creationId xmlns:a16="http://schemas.microsoft.com/office/drawing/2014/main" id="{886AF1C6-D34C-BAA0-A857-8CA3B7F07561}"/>
              </a:ext>
            </a:extLst>
          </p:cNvPr>
          <p:cNvSpPr txBox="1"/>
          <p:nvPr/>
        </p:nvSpPr>
        <p:spPr>
          <a:xfrm>
            <a:off x="9534449" y="4919472"/>
            <a:ext cx="1728216" cy="384048"/>
          </a:xfrm>
          <a:prstGeom prst="rect">
            <a:avLst/>
          </a:prstGeom>
          <a:noFill/>
          <a:ln/>
        </p:spPr>
        <p:txBody>
          <a:bodyPr wrap="square" lIns="0" tIns="0" rIns="0" bIns="0" rtlCol="0" anchor="ctr">
            <a:normAutofit/>
          </a:bodyPr>
          <a:lstStyle/>
          <a:p>
            <a:pPr marL="0" indent="0" algn="ctr">
              <a:buNone/>
            </a:pPr>
            <a:r>
              <a:rPr lang="en-US" sz="1050" b="1" dirty="0">
                <a:solidFill>
                  <a:srgbClr val="0A1F3D"/>
                </a:solidFill>
                <a:latin typeface="Calibri" pitchFamily="34" charset="0"/>
                <a:ea typeface="Calibri" pitchFamily="34" charset="-122"/>
                <a:cs typeface="Calibri" pitchFamily="34" charset="-120"/>
              </a:rPr>
              <a:t>Effort &amp; cost band</a:t>
            </a:r>
            <a:endParaRPr lang="en-US" sz="1050" dirty="0"/>
          </a:p>
        </p:txBody>
      </p:sp>
      <p:sp>
        <p:nvSpPr>
          <p:cNvPr id="109" name="Shape 53">
            <a:extLst>
              <a:ext uri="{FF2B5EF4-FFF2-40B4-BE49-F238E27FC236}">
                <a16:creationId xmlns:a16="http://schemas.microsoft.com/office/drawing/2014/main" id="{2646A47D-00F6-C4C1-345B-17D32E745E16}"/>
              </a:ext>
            </a:extLst>
          </p:cNvPr>
          <p:cNvSpPr/>
          <p:nvPr/>
        </p:nvSpPr>
        <p:spPr>
          <a:xfrm>
            <a:off x="6928409" y="4617720"/>
            <a:ext cx="438912" cy="0"/>
          </a:xfrm>
          <a:prstGeom prst="line">
            <a:avLst/>
          </a:prstGeom>
          <a:noFill/>
          <a:ln w="22225">
            <a:solidFill>
              <a:srgbClr val="E0A243"/>
            </a:solidFill>
            <a:prstDash val="solid"/>
            <a:tailEnd type="triangle"/>
          </a:ln>
        </p:spPr>
      </p:sp>
      <p:sp>
        <p:nvSpPr>
          <p:cNvPr id="111" name="Text 54">
            <a:extLst>
              <a:ext uri="{FF2B5EF4-FFF2-40B4-BE49-F238E27FC236}">
                <a16:creationId xmlns:a16="http://schemas.microsoft.com/office/drawing/2014/main" id="{A28C8582-096C-B72D-59DE-CE9F522D62C3}"/>
              </a:ext>
            </a:extLst>
          </p:cNvPr>
          <p:cNvSpPr txBox="1"/>
          <p:nvPr/>
        </p:nvSpPr>
        <p:spPr>
          <a:xfrm>
            <a:off x="609905" y="5760720"/>
            <a:ext cx="1371600" cy="365760"/>
          </a:xfrm>
          <a:prstGeom prst="rect">
            <a:avLst/>
          </a:prstGeom>
          <a:noFill/>
          <a:ln/>
        </p:spPr>
        <p:txBody>
          <a:bodyPr wrap="square" lIns="0" tIns="0" rIns="0" bIns="0" rtlCol="0" anchor="ctr"/>
          <a:lstStyle/>
          <a:p>
            <a:pPr marL="0" indent="0">
              <a:buNone/>
            </a:pPr>
            <a:r>
              <a:rPr lang="en-US" sz="1000" b="1" kern="0" spc="200" dirty="0">
                <a:solidFill>
                  <a:srgbClr val="5B6B82"/>
                </a:solidFill>
                <a:latin typeface="Calibri" pitchFamily="34" charset="0"/>
                <a:ea typeface="Calibri" pitchFamily="34" charset="-122"/>
                <a:cs typeface="Calibri" pitchFamily="34" charset="-120"/>
              </a:rPr>
              <a:t>AI RESILIENCE</a:t>
            </a:r>
            <a:endParaRPr lang="en-US" sz="1000" dirty="0"/>
          </a:p>
        </p:txBody>
      </p:sp>
      <p:sp>
        <p:nvSpPr>
          <p:cNvPr id="113" name="Shape 55">
            <a:extLst>
              <a:ext uri="{FF2B5EF4-FFF2-40B4-BE49-F238E27FC236}">
                <a16:creationId xmlns:a16="http://schemas.microsoft.com/office/drawing/2014/main" id="{115F460D-CF71-8EF8-0340-9BC21E3A22D7}"/>
              </a:ext>
            </a:extLst>
          </p:cNvPr>
          <p:cNvSpPr/>
          <p:nvPr/>
        </p:nvSpPr>
        <p:spPr>
          <a:xfrm>
            <a:off x="2027225" y="5760720"/>
            <a:ext cx="1737360" cy="365760"/>
          </a:xfrm>
          <a:prstGeom prst="roundRect">
            <a:avLst>
              <a:gd name="adj" fmla="val 50000"/>
            </a:avLst>
          </a:prstGeom>
          <a:solidFill>
            <a:srgbClr val="FFFFFF"/>
          </a:solidFill>
          <a:ln w="12700">
            <a:solidFill>
              <a:srgbClr val="0A1F3D"/>
            </a:solidFill>
            <a:prstDash val="solid"/>
          </a:ln>
        </p:spPr>
      </p:sp>
      <p:sp>
        <p:nvSpPr>
          <p:cNvPr id="115" name="Text 56">
            <a:extLst>
              <a:ext uri="{FF2B5EF4-FFF2-40B4-BE49-F238E27FC236}">
                <a16:creationId xmlns:a16="http://schemas.microsoft.com/office/drawing/2014/main" id="{822FDB40-7E16-BAA5-CF3B-C7D5F4388175}"/>
              </a:ext>
            </a:extLst>
          </p:cNvPr>
          <p:cNvSpPr txBox="1"/>
          <p:nvPr/>
        </p:nvSpPr>
        <p:spPr>
          <a:xfrm>
            <a:off x="2027225" y="5760720"/>
            <a:ext cx="1737360" cy="365760"/>
          </a:xfrm>
          <a:prstGeom prst="rect">
            <a:avLst/>
          </a:prstGeom>
          <a:noFill/>
          <a:ln/>
        </p:spPr>
        <p:txBody>
          <a:bodyPr wrap="square" lIns="0" tIns="0" rIns="0" bIns="0" rtlCol="0" anchor="ctr"/>
          <a:lstStyle/>
          <a:p>
            <a:pPr marL="0" indent="0" algn="ctr">
              <a:buNone/>
            </a:pPr>
            <a:r>
              <a:rPr lang="en-US" sz="1100" b="1" dirty="0">
                <a:solidFill>
                  <a:srgbClr val="0A1F3D"/>
                </a:solidFill>
                <a:latin typeface="Calibri" pitchFamily="34" charset="0"/>
                <a:ea typeface="Calibri" pitchFamily="34" charset="-122"/>
                <a:cs typeface="Calibri" pitchFamily="34" charset="-120"/>
              </a:rPr>
              <a:t>Primary model</a:t>
            </a:r>
            <a:endParaRPr lang="en-US" sz="1100" dirty="0"/>
          </a:p>
        </p:txBody>
      </p:sp>
      <p:sp>
        <p:nvSpPr>
          <p:cNvPr id="117" name="Shape 57">
            <a:extLst>
              <a:ext uri="{FF2B5EF4-FFF2-40B4-BE49-F238E27FC236}">
                <a16:creationId xmlns:a16="http://schemas.microsoft.com/office/drawing/2014/main" id="{522A481C-3A62-882C-CC97-9BC4C43571CA}"/>
              </a:ext>
            </a:extLst>
          </p:cNvPr>
          <p:cNvSpPr/>
          <p:nvPr/>
        </p:nvSpPr>
        <p:spPr>
          <a:xfrm>
            <a:off x="3810305" y="5943600"/>
            <a:ext cx="320040" cy="0"/>
          </a:xfrm>
          <a:prstGeom prst="line">
            <a:avLst/>
          </a:prstGeom>
          <a:noFill/>
          <a:ln w="22225">
            <a:solidFill>
              <a:srgbClr val="E0A243"/>
            </a:solidFill>
            <a:prstDash val="solid"/>
            <a:tailEnd type="triangle"/>
          </a:ln>
        </p:spPr>
      </p:sp>
      <p:sp>
        <p:nvSpPr>
          <p:cNvPr id="119" name="Shape 58">
            <a:extLst>
              <a:ext uri="{FF2B5EF4-FFF2-40B4-BE49-F238E27FC236}">
                <a16:creationId xmlns:a16="http://schemas.microsoft.com/office/drawing/2014/main" id="{F1CFDFA2-F854-A2B2-4042-97A0B6B862C8}"/>
              </a:ext>
            </a:extLst>
          </p:cNvPr>
          <p:cNvSpPr/>
          <p:nvPr/>
        </p:nvSpPr>
        <p:spPr>
          <a:xfrm>
            <a:off x="4176065" y="5760720"/>
            <a:ext cx="1737360" cy="365760"/>
          </a:xfrm>
          <a:prstGeom prst="roundRect">
            <a:avLst>
              <a:gd name="adj" fmla="val 50000"/>
            </a:avLst>
          </a:prstGeom>
          <a:solidFill>
            <a:srgbClr val="FFFFFF"/>
          </a:solidFill>
          <a:ln w="12700">
            <a:solidFill>
              <a:srgbClr val="0A1F3D"/>
            </a:solidFill>
            <a:prstDash val="solid"/>
          </a:ln>
        </p:spPr>
      </p:sp>
      <p:sp>
        <p:nvSpPr>
          <p:cNvPr id="121" name="Text 59">
            <a:extLst>
              <a:ext uri="{FF2B5EF4-FFF2-40B4-BE49-F238E27FC236}">
                <a16:creationId xmlns:a16="http://schemas.microsoft.com/office/drawing/2014/main" id="{86CFFD7C-B640-070D-9D64-5A2A8316F201}"/>
              </a:ext>
            </a:extLst>
          </p:cNvPr>
          <p:cNvSpPr txBox="1"/>
          <p:nvPr/>
        </p:nvSpPr>
        <p:spPr>
          <a:xfrm>
            <a:off x="4176065" y="5760720"/>
            <a:ext cx="1737360" cy="365760"/>
          </a:xfrm>
          <a:prstGeom prst="rect">
            <a:avLst/>
          </a:prstGeom>
          <a:noFill/>
          <a:ln/>
        </p:spPr>
        <p:txBody>
          <a:bodyPr wrap="square" lIns="0" tIns="0" rIns="0" bIns="0" rtlCol="0" anchor="ctr"/>
          <a:lstStyle/>
          <a:p>
            <a:pPr marL="0" indent="0" algn="ctr">
              <a:buNone/>
            </a:pPr>
            <a:r>
              <a:rPr lang="en-US" sz="1100" b="1" dirty="0">
                <a:solidFill>
                  <a:srgbClr val="0A1F3D"/>
                </a:solidFill>
                <a:latin typeface="Calibri" pitchFamily="34" charset="0"/>
                <a:ea typeface="Calibri" pitchFamily="34" charset="-122"/>
                <a:cs typeface="Calibri" pitchFamily="34" charset="-120"/>
              </a:rPr>
              <a:t>Backup model</a:t>
            </a:r>
            <a:endParaRPr lang="en-US" sz="1100" dirty="0"/>
          </a:p>
        </p:txBody>
      </p:sp>
      <p:sp>
        <p:nvSpPr>
          <p:cNvPr id="123" name="Shape 60">
            <a:extLst>
              <a:ext uri="{FF2B5EF4-FFF2-40B4-BE49-F238E27FC236}">
                <a16:creationId xmlns:a16="http://schemas.microsoft.com/office/drawing/2014/main" id="{80519B51-53A8-B588-10A4-7FB5B6F41D7B}"/>
              </a:ext>
            </a:extLst>
          </p:cNvPr>
          <p:cNvSpPr/>
          <p:nvPr/>
        </p:nvSpPr>
        <p:spPr>
          <a:xfrm>
            <a:off x="5959145" y="5943600"/>
            <a:ext cx="320040" cy="0"/>
          </a:xfrm>
          <a:prstGeom prst="line">
            <a:avLst/>
          </a:prstGeom>
          <a:noFill/>
          <a:ln w="22225">
            <a:solidFill>
              <a:srgbClr val="E0A243"/>
            </a:solidFill>
            <a:prstDash val="solid"/>
            <a:tailEnd type="triangle"/>
          </a:ln>
        </p:spPr>
      </p:sp>
      <p:sp>
        <p:nvSpPr>
          <p:cNvPr id="125" name="Shape 61">
            <a:extLst>
              <a:ext uri="{FF2B5EF4-FFF2-40B4-BE49-F238E27FC236}">
                <a16:creationId xmlns:a16="http://schemas.microsoft.com/office/drawing/2014/main" id="{D3C4954D-086C-BF5A-0EA2-0E3B295EB433}"/>
              </a:ext>
            </a:extLst>
          </p:cNvPr>
          <p:cNvSpPr/>
          <p:nvPr/>
        </p:nvSpPr>
        <p:spPr>
          <a:xfrm>
            <a:off x="6324905" y="5760720"/>
            <a:ext cx="1737360" cy="365760"/>
          </a:xfrm>
          <a:prstGeom prst="roundRect">
            <a:avLst>
              <a:gd name="adj" fmla="val 50000"/>
            </a:avLst>
          </a:prstGeom>
          <a:solidFill>
            <a:srgbClr val="FFFFFF"/>
          </a:solidFill>
          <a:ln w="12700">
            <a:solidFill>
              <a:srgbClr val="0A1F3D"/>
            </a:solidFill>
            <a:prstDash val="solid"/>
          </a:ln>
        </p:spPr>
      </p:sp>
      <p:sp>
        <p:nvSpPr>
          <p:cNvPr id="127" name="Text 62">
            <a:extLst>
              <a:ext uri="{FF2B5EF4-FFF2-40B4-BE49-F238E27FC236}">
                <a16:creationId xmlns:a16="http://schemas.microsoft.com/office/drawing/2014/main" id="{F0A0EEEE-D04F-1DF8-0DA7-D7F560B02F92}"/>
              </a:ext>
            </a:extLst>
          </p:cNvPr>
          <p:cNvSpPr txBox="1"/>
          <p:nvPr/>
        </p:nvSpPr>
        <p:spPr>
          <a:xfrm>
            <a:off x="6324905" y="5760720"/>
            <a:ext cx="1737360" cy="365760"/>
          </a:xfrm>
          <a:prstGeom prst="rect">
            <a:avLst/>
          </a:prstGeom>
          <a:noFill/>
          <a:ln/>
        </p:spPr>
        <p:txBody>
          <a:bodyPr wrap="square" lIns="0" tIns="0" rIns="0" bIns="0" rtlCol="0" anchor="ctr"/>
          <a:lstStyle/>
          <a:p>
            <a:pPr marL="0" indent="0" algn="ctr">
              <a:buNone/>
            </a:pPr>
            <a:r>
              <a:rPr lang="en-US" sz="1100" b="1" dirty="0">
                <a:solidFill>
                  <a:srgbClr val="0A1F3D"/>
                </a:solidFill>
                <a:latin typeface="Calibri" pitchFamily="34" charset="0"/>
                <a:ea typeface="Calibri" pitchFamily="34" charset="-122"/>
                <a:cs typeface="Calibri" pitchFamily="34" charset="-120"/>
              </a:rPr>
              <a:t>Offline engine</a:t>
            </a:r>
            <a:endParaRPr lang="en-US" sz="1100" dirty="0"/>
          </a:p>
        </p:txBody>
      </p:sp>
      <p:sp>
        <p:nvSpPr>
          <p:cNvPr id="129" name="Text 63">
            <a:extLst>
              <a:ext uri="{FF2B5EF4-FFF2-40B4-BE49-F238E27FC236}">
                <a16:creationId xmlns:a16="http://schemas.microsoft.com/office/drawing/2014/main" id="{8E0AC6F5-BE97-8D05-A55B-285F22A80A7F}"/>
              </a:ext>
            </a:extLst>
          </p:cNvPr>
          <p:cNvSpPr txBox="1"/>
          <p:nvPr/>
        </p:nvSpPr>
        <p:spPr>
          <a:xfrm>
            <a:off x="8565185" y="5760720"/>
            <a:ext cx="3017520" cy="365760"/>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If a provider is unavailable, Compile shows a labelled fallback instead of failing.</a:t>
            </a:r>
            <a:endParaRPr lang="en-US" sz="1050" dirty="0"/>
          </a:p>
        </p:txBody>
      </p:sp>
      <p:sp>
        <p:nvSpPr>
          <p:cNvPr id="131" name="Text 64">
            <a:extLst>
              <a:ext uri="{FF2B5EF4-FFF2-40B4-BE49-F238E27FC236}">
                <a16:creationId xmlns:a16="http://schemas.microsoft.com/office/drawing/2014/main" id="{66990FF3-CC61-5DDF-416D-DB71B7B68762}"/>
              </a:ext>
            </a:extLst>
          </p:cNvPr>
          <p:cNvSpPr txBox="1"/>
          <p:nvPr/>
        </p:nvSpPr>
        <p:spPr>
          <a:xfrm>
            <a:off x="609905" y="6400800"/>
            <a:ext cx="5486400" cy="228600"/>
          </a:xfrm>
          <a:prstGeom prst="rect">
            <a:avLst/>
          </a:prstGeom>
          <a:noFill/>
          <a:ln/>
        </p:spPr>
        <p:txBody>
          <a:bodyPr wrap="square" lIns="0" tIns="0" rIns="0" bIns="0" rtlCol="0" anchor="ctr"/>
          <a:lstStyle/>
          <a:p>
            <a:pPr marL="0" indent="0">
              <a:buNone/>
            </a:pPr>
            <a:r>
              <a:rPr lang="en-US" sz="900" dirty="0">
                <a:solidFill>
                  <a:srgbClr val="5B6B82"/>
                </a:solidFill>
                <a:latin typeface="Calibri" pitchFamily="34" charset="0"/>
                <a:ea typeface="Calibri" pitchFamily="34" charset="-122"/>
                <a:cs typeface="Calibri" pitchFamily="34" charset="-120"/>
              </a:rPr>
              <a:t>Compile  ·  Blueprint AI  ·  Chaos2Commit 2026</a:t>
            </a:r>
            <a:endParaRPr lang="en-US" sz="900" dirty="0"/>
          </a:p>
        </p:txBody>
      </p:sp>
      <p:pic>
        <p:nvPicPr>
          <p:cNvPr id="133" name="Image 0" descr="preencoded.png">
            <a:extLst>
              <a:ext uri="{FF2B5EF4-FFF2-40B4-BE49-F238E27FC236}">
                <a16:creationId xmlns:a16="http://schemas.microsoft.com/office/drawing/2014/main" id="{004F78AE-7B9B-434A-8FC8-1E979524EB22}"/>
              </a:ext>
            </a:extLst>
          </p:cNvPr>
          <p:cNvPicPr>
            <a:picLocks noChangeAspect="1"/>
          </p:cNvPicPr>
          <p:nvPr/>
        </p:nvPicPr>
        <p:blipFill>
          <a:blip r:embed="rId2"/>
          <a:stretch>
            <a:fillRect/>
          </a:stretch>
        </p:blipFill>
        <p:spPr>
          <a:xfrm>
            <a:off x="4377233" y="1623060"/>
            <a:ext cx="210312" cy="210312"/>
          </a:xfrm>
          <a:prstGeom prst="rect">
            <a:avLst/>
          </a:prstGeom>
        </p:spPr>
      </p:pic>
      <p:pic>
        <p:nvPicPr>
          <p:cNvPr id="135" name="Image 2" descr="preencoded.png">
            <a:extLst>
              <a:ext uri="{FF2B5EF4-FFF2-40B4-BE49-F238E27FC236}">
                <a16:creationId xmlns:a16="http://schemas.microsoft.com/office/drawing/2014/main" id="{EBF9679A-B249-EFE9-1333-342BFB763EF9}"/>
              </a:ext>
            </a:extLst>
          </p:cNvPr>
          <p:cNvPicPr>
            <a:picLocks noChangeAspect="1"/>
          </p:cNvPicPr>
          <p:nvPr/>
        </p:nvPicPr>
        <p:blipFill>
          <a:blip r:embed="rId3"/>
          <a:stretch>
            <a:fillRect/>
          </a:stretch>
        </p:blipFill>
        <p:spPr>
          <a:xfrm>
            <a:off x="6599225" y="1609344"/>
            <a:ext cx="274320" cy="274320"/>
          </a:xfrm>
          <a:prstGeom prst="rect">
            <a:avLst/>
          </a:prstGeom>
        </p:spPr>
      </p:pic>
      <p:pic>
        <p:nvPicPr>
          <p:cNvPr id="137" name="Image 4" descr="preencoded.png">
            <a:extLst>
              <a:ext uri="{FF2B5EF4-FFF2-40B4-BE49-F238E27FC236}">
                <a16:creationId xmlns:a16="http://schemas.microsoft.com/office/drawing/2014/main" id="{EACABBB2-E36F-04F1-8556-AC739DDE61C1}"/>
              </a:ext>
            </a:extLst>
          </p:cNvPr>
          <p:cNvPicPr>
            <a:picLocks noChangeAspect="1"/>
          </p:cNvPicPr>
          <p:nvPr/>
        </p:nvPicPr>
        <p:blipFill>
          <a:blip r:embed="rId4"/>
          <a:stretch>
            <a:fillRect/>
          </a:stretch>
        </p:blipFill>
        <p:spPr>
          <a:xfrm>
            <a:off x="8839505" y="1597914"/>
            <a:ext cx="297180" cy="297180"/>
          </a:xfrm>
          <a:prstGeom prst="rect">
            <a:avLst/>
          </a:prstGeom>
        </p:spPr>
      </p:pic>
      <p:pic>
        <p:nvPicPr>
          <p:cNvPr id="139" name="Image 6" descr="preencoded.png">
            <a:extLst>
              <a:ext uri="{FF2B5EF4-FFF2-40B4-BE49-F238E27FC236}">
                <a16:creationId xmlns:a16="http://schemas.microsoft.com/office/drawing/2014/main" id="{0C40DFA0-175E-A826-FC4D-7E20A5087651}"/>
              </a:ext>
            </a:extLst>
          </p:cNvPr>
          <p:cNvPicPr>
            <a:picLocks noChangeAspect="1"/>
          </p:cNvPicPr>
          <p:nvPr/>
        </p:nvPicPr>
        <p:blipFill>
          <a:blip r:embed="rId5"/>
          <a:stretch>
            <a:fillRect/>
          </a:stretch>
        </p:blipFill>
        <p:spPr>
          <a:xfrm>
            <a:off x="11184935" y="1623664"/>
            <a:ext cx="260000" cy="260000"/>
          </a:xfrm>
          <a:prstGeom prst="rect">
            <a:avLst/>
          </a:prstGeom>
        </p:spPr>
      </p:pic>
    </p:spTree>
    <p:extLst>
      <p:ext uri="{BB962C8B-B14F-4D97-AF65-F5344CB8AC3E}">
        <p14:creationId xmlns:p14="http://schemas.microsoft.com/office/powerpoint/2010/main" val="3331363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D"/>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The Working Product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B9C7DD"/>
                </a:solidFill>
                <a:latin typeface="Calibri" pitchFamily="34" charset="0"/>
                <a:ea typeface="Calibri" pitchFamily="34" charset="-122"/>
                <a:cs typeface="Calibri" pitchFamily="34" charset="-120"/>
              </a:rPr>
              <a:t>Real screens from the running app: a retail SaaS idea, compiled into a blueprint.</a:t>
            </a:r>
            <a:endParaRPr lang="en-US" sz="1800" dirty="0"/>
          </a:p>
        </p:txBody>
      </p:sp>
      <p:sp>
        <p:nvSpPr>
          <p:cNvPr id="4" name="Shape 2"/>
          <p:cNvSpPr/>
          <p:nvPr/>
        </p:nvSpPr>
        <p:spPr>
          <a:xfrm>
            <a:off x="521208" y="2331567"/>
            <a:ext cx="5495544" cy="2537965"/>
          </a:xfrm>
          <a:prstGeom prst="rect">
            <a:avLst/>
          </a:prstGeom>
          <a:solidFill>
            <a:srgbClr val="FFFFFF"/>
          </a:solidFill>
          <a:ln w="12700">
            <a:solidFill>
              <a:srgbClr val="E0A243"/>
            </a:solidFill>
            <a:prstDash val="solid"/>
          </a:ln>
        </p:spPr>
      </p:sp>
      <p:pic>
        <p:nvPicPr>
          <p:cNvPr id="5" name="Image 0" descr="shot_bpmn_c.jpg"/>
          <p:cNvPicPr>
            <a:picLocks noChangeAspect="1"/>
          </p:cNvPicPr>
          <p:nvPr/>
        </p:nvPicPr>
        <p:blipFill>
          <a:blip r:embed="rId3"/>
          <a:stretch>
            <a:fillRect/>
          </a:stretch>
        </p:blipFill>
        <p:spPr>
          <a:xfrm>
            <a:off x="548640" y="2358999"/>
            <a:ext cx="5440680" cy="2483101"/>
          </a:xfrm>
          <a:prstGeom prst="rect">
            <a:avLst/>
          </a:prstGeom>
        </p:spPr>
      </p:pic>
      <p:sp>
        <p:nvSpPr>
          <p:cNvPr id="6" name="Text 3"/>
          <p:cNvSpPr txBox="1"/>
          <p:nvPr/>
        </p:nvSpPr>
        <p:spPr>
          <a:xfrm>
            <a:off x="548640" y="4951828"/>
            <a:ext cx="5440680" cy="320040"/>
          </a:xfrm>
          <a:prstGeom prst="rect">
            <a:avLst/>
          </a:prstGeom>
          <a:noFill/>
          <a:ln/>
        </p:spPr>
        <p:txBody>
          <a:bodyPr wrap="square" lIns="0" tIns="0" rIns="0" bIns="0" rtlCol="0" anchor="t"/>
          <a:lstStyle/>
          <a:p>
            <a:pPr marL="0" indent="0">
              <a:buNone/>
            </a:pPr>
            <a:r>
              <a:rPr lang="en-US" sz="1500" b="1" dirty="0">
                <a:solidFill>
                  <a:srgbClr val="E0A243"/>
                </a:solidFill>
                <a:latin typeface="Calibri" pitchFamily="34" charset="0"/>
                <a:ea typeface="Calibri" pitchFamily="34" charset="-122"/>
                <a:cs typeface="Calibri" pitchFamily="34" charset="-120"/>
              </a:rPr>
              <a:t>Blueprint hub: six tabbed deliverables</a:t>
            </a:r>
            <a:endParaRPr lang="en-US" sz="1500" dirty="0"/>
          </a:p>
        </p:txBody>
      </p:sp>
      <p:sp>
        <p:nvSpPr>
          <p:cNvPr id="7" name="Shape 4"/>
          <p:cNvSpPr/>
          <p:nvPr/>
        </p:nvSpPr>
        <p:spPr>
          <a:xfrm>
            <a:off x="6172200" y="2331567"/>
            <a:ext cx="5495544" cy="2537965"/>
          </a:xfrm>
          <a:prstGeom prst="rect">
            <a:avLst/>
          </a:prstGeom>
          <a:solidFill>
            <a:srgbClr val="FFFFFF"/>
          </a:solidFill>
          <a:ln w="12700">
            <a:solidFill>
              <a:srgbClr val="E0A243"/>
            </a:solidFill>
            <a:prstDash val="solid"/>
          </a:ln>
        </p:spPr>
      </p:sp>
      <p:pic>
        <p:nvPicPr>
          <p:cNvPr id="8" name="Image 1" descr="shot_discovery_c.jpg"/>
          <p:cNvPicPr>
            <a:picLocks noChangeAspect="1"/>
          </p:cNvPicPr>
          <p:nvPr/>
        </p:nvPicPr>
        <p:blipFill>
          <a:blip r:embed="rId4"/>
          <a:stretch>
            <a:fillRect/>
          </a:stretch>
        </p:blipFill>
        <p:spPr>
          <a:xfrm>
            <a:off x="6199632" y="2358999"/>
            <a:ext cx="5440680" cy="2483101"/>
          </a:xfrm>
          <a:prstGeom prst="rect">
            <a:avLst/>
          </a:prstGeom>
        </p:spPr>
      </p:pic>
      <p:sp>
        <p:nvSpPr>
          <p:cNvPr id="9" name="Text 5"/>
          <p:cNvSpPr txBox="1"/>
          <p:nvPr/>
        </p:nvSpPr>
        <p:spPr>
          <a:xfrm>
            <a:off x="6199632" y="4951828"/>
            <a:ext cx="5440680" cy="320040"/>
          </a:xfrm>
          <a:prstGeom prst="rect">
            <a:avLst/>
          </a:prstGeom>
          <a:noFill/>
          <a:ln/>
        </p:spPr>
        <p:txBody>
          <a:bodyPr wrap="square" lIns="0" tIns="0" rIns="0" bIns="0" rtlCol="0" anchor="t"/>
          <a:lstStyle/>
          <a:p>
            <a:pPr marL="0" indent="0">
              <a:buNone/>
            </a:pPr>
            <a:r>
              <a:rPr lang="en-US" sz="1500" b="1" dirty="0">
                <a:solidFill>
                  <a:srgbClr val="E0A243"/>
                </a:solidFill>
                <a:latin typeface="Calibri" pitchFamily="34" charset="0"/>
                <a:ea typeface="Calibri" pitchFamily="34" charset="-122"/>
                <a:cs typeface="Calibri" pitchFamily="34" charset="-120"/>
              </a:rPr>
              <a:t>Discovery chat: 5 of 5 questions clarified</a:t>
            </a:r>
            <a:endParaRPr lang="en-US" sz="1500" dirty="0"/>
          </a:p>
        </p:txBody>
      </p:sp>
      <p:sp>
        <p:nvSpPr>
          <p:cNvPr id="10" name="Shape 6"/>
          <p:cNvSpPr/>
          <p:nvPr/>
        </p:nvSpPr>
        <p:spPr>
          <a:xfrm>
            <a:off x="548640" y="5532120"/>
            <a:ext cx="11091672" cy="640080"/>
          </a:xfrm>
          <a:prstGeom prst="rect">
            <a:avLst/>
          </a:prstGeom>
          <a:solidFill>
            <a:srgbClr val="10284D"/>
          </a:solidFill>
          <a:ln w="12700">
            <a:solidFill>
              <a:srgbClr val="17335F"/>
            </a:solidFill>
            <a:prstDash val="solid"/>
          </a:ln>
        </p:spPr>
      </p:sp>
      <p:sp>
        <p:nvSpPr>
          <p:cNvPr id="11" name="Text 7"/>
          <p:cNvSpPr txBox="1"/>
          <p:nvPr/>
        </p:nvSpPr>
        <p:spPr>
          <a:xfrm>
            <a:off x="822960" y="5532120"/>
            <a:ext cx="10607040" cy="640080"/>
          </a:xfrm>
          <a:prstGeom prst="rect">
            <a:avLst/>
          </a:prstGeom>
          <a:noFill/>
          <a:ln/>
        </p:spPr>
        <p:txBody>
          <a:bodyPr wrap="square" lIns="0" tIns="0" rIns="0" bIns="0" rtlCol="0" anchor="ctr"/>
          <a:lstStyle/>
          <a:p>
            <a:pPr marL="0" indent="0">
              <a:buNone/>
            </a:pPr>
            <a:r>
              <a:rPr lang="en-US" sz="1600" b="1" dirty="0">
                <a:solidFill>
                  <a:srgbClr val="E0A243"/>
                </a:solidFill>
                <a:latin typeface="Calibri" pitchFamily="34" charset="0"/>
                <a:ea typeface="Calibri" pitchFamily="34" charset="-122"/>
                <a:cs typeface="Calibri" pitchFamily="34" charset="-120"/>
              </a:rPr>
              <a:t>Demo case: </a:t>
            </a:r>
            <a:r>
              <a:rPr lang="en-US" sz="1600" dirty="0">
                <a:solidFill>
                  <a:srgbClr val="FFFFFF"/>
                </a:solidFill>
                <a:latin typeface="Calibri" pitchFamily="34" charset="0"/>
                <a:ea typeface="Calibri" pitchFamily="34" charset="-122"/>
                <a:cs typeface="Calibri" pitchFamily="34" charset="-120"/>
              </a:rPr>
              <a:t>ShopPilot, a multi-tenant SaaS app that helps small retail shops track sales and inventory. Five answers in, a build-ready blueprint out.</a:t>
            </a:r>
            <a:endParaRPr lang="en-US" sz="1600" dirty="0"/>
          </a:p>
        </p:txBody>
      </p:sp>
      <p:sp>
        <p:nvSpPr>
          <p:cNvPr id="12" name="Text 8"/>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B9C7DD"/>
                </a:solidFill>
                <a:latin typeface="Calibri" pitchFamily="34" charset="0"/>
                <a:ea typeface="Calibri" pitchFamily="34" charset="-122"/>
                <a:cs typeface="Calibri" pitchFamily="34" charset="-120"/>
              </a:rPr>
              <a:t>Compile  ·  Blueprint AI  ·  Chaos2Commit 2026</a:t>
            </a:r>
            <a:endParaRPr lang="en-US" sz="1000" dirty="0"/>
          </a:p>
        </p:txBody>
      </p:sp>
      <p:sp>
        <p:nvSpPr>
          <p:cNvPr id="13" name="Text 9"/>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B9C7DD"/>
                </a:solidFill>
                <a:latin typeface="Calibri" pitchFamily="34" charset="0"/>
                <a:ea typeface="Calibri" pitchFamily="34" charset="-122"/>
                <a:cs typeface="Calibri" pitchFamily="34" charset="-120"/>
              </a:rPr>
              <a:t>4</a:t>
            </a:r>
            <a:endParaRPr lang="en-US" sz="1000" dirty="0"/>
          </a:p>
        </p:txBody>
      </p:sp>
      <p:sp>
        <p:nvSpPr>
          <p:cNvPr id="14" name="TextBox 13">
            <a:extLst>
              <a:ext uri="{FF2B5EF4-FFF2-40B4-BE49-F238E27FC236}">
                <a16:creationId xmlns:a16="http://schemas.microsoft.com/office/drawing/2014/main" id="{C320BE5F-B545-53BC-DD81-ABD4F073408B}"/>
              </a:ext>
            </a:extLst>
          </p:cNvPr>
          <p:cNvSpPr txBox="1"/>
          <p:nvPr/>
        </p:nvSpPr>
        <p:spPr>
          <a:xfrm>
            <a:off x="521208" y="1613311"/>
            <a:ext cx="6718378" cy="677108"/>
          </a:xfrm>
          <a:prstGeom prst="rect">
            <a:avLst/>
          </a:prstGeom>
          <a:noFill/>
        </p:spPr>
        <p:txBody>
          <a:bodyPr wrap="none" rtlCol="0">
            <a:spAutoFit/>
          </a:bodyPr>
          <a:lstStyle/>
          <a:p>
            <a:r>
              <a:rPr lang="en-US" sz="2000" b="1" dirty="0">
                <a:solidFill>
                  <a:schemeClr val="bg1"/>
                </a:solidFill>
                <a:latin typeface="Cambria" panose="02040503050406030204" pitchFamily="18" charset="0"/>
                <a:ea typeface="Cambria" panose="02040503050406030204" pitchFamily="18" charset="0"/>
              </a:rPr>
              <a:t>GitHub Link</a:t>
            </a:r>
            <a:r>
              <a:rPr lang="en-US" dirty="0">
                <a:solidFill>
                  <a:schemeClr val="bg1"/>
                </a:solidFill>
              </a:rPr>
              <a:t>: https://github.com/dhruvbhoi2007-hub/BluePrint_AI</a:t>
            </a:r>
            <a:endParaRPr lang="en-IN" dirty="0">
              <a:solidFill>
                <a:schemeClr val="bg1"/>
              </a:solidFill>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Six Deliverables, One Blueprint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From the boardroom BRD down to the database tables.</a:t>
            </a:r>
            <a:endParaRPr lang="en-US" sz="1800" dirty="0"/>
          </a:p>
        </p:txBody>
      </p:sp>
      <p:sp>
        <p:nvSpPr>
          <p:cNvPr id="4" name="Shape 2"/>
          <p:cNvSpPr/>
          <p:nvPr/>
        </p:nvSpPr>
        <p:spPr>
          <a:xfrm>
            <a:off x="548640" y="182880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5" name="Shape 3"/>
          <p:cNvSpPr/>
          <p:nvPr/>
        </p:nvSpPr>
        <p:spPr>
          <a:xfrm>
            <a:off x="822960" y="2103120"/>
            <a:ext cx="640080" cy="640080"/>
          </a:xfrm>
          <a:prstGeom prst="ellipse">
            <a:avLst/>
          </a:prstGeom>
          <a:solidFill>
            <a:srgbClr val="0A1F3D"/>
          </a:solidFill>
          <a:ln w="12700">
            <a:solidFill>
              <a:srgbClr val="0A1F3D"/>
            </a:solidFill>
            <a:prstDash val="solid"/>
          </a:ln>
        </p:spPr>
      </p:sp>
      <p:pic>
        <p:nvPicPr>
          <p:cNvPr id="6" name="Image 0" descr="preencoded.png"/>
          <p:cNvPicPr>
            <a:picLocks noChangeAspect="1"/>
          </p:cNvPicPr>
          <p:nvPr/>
        </p:nvPicPr>
        <p:blipFill>
          <a:blip r:embed="rId3"/>
          <a:stretch>
            <a:fillRect/>
          </a:stretch>
        </p:blipFill>
        <p:spPr>
          <a:xfrm>
            <a:off x="982980" y="2263140"/>
            <a:ext cx="320040" cy="320040"/>
          </a:xfrm>
          <a:prstGeom prst="rect">
            <a:avLst/>
          </a:prstGeom>
        </p:spPr>
      </p:pic>
      <p:sp>
        <p:nvSpPr>
          <p:cNvPr id="7" name="Text 4"/>
          <p:cNvSpPr txBox="1"/>
          <p:nvPr/>
        </p:nvSpPr>
        <p:spPr>
          <a:xfrm>
            <a:off x="1645920" y="210312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Executive BRD</a:t>
            </a:r>
            <a:endParaRPr lang="en-US" sz="1900" dirty="0"/>
          </a:p>
        </p:txBody>
      </p:sp>
      <p:sp>
        <p:nvSpPr>
          <p:cNvPr id="8" name="Text 5"/>
          <p:cNvSpPr txBox="1"/>
          <p:nvPr/>
        </p:nvSpPr>
        <p:spPr>
          <a:xfrm>
            <a:off x="822960" y="292608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Objectives, in/out of scope, and gap analysis with impact ratings.</a:t>
            </a:r>
            <a:endParaRPr lang="en-US" sz="1400" dirty="0"/>
          </a:p>
        </p:txBody>
      </p:sp>
      <p:sp>
        <p:nvSpPr>
          <p:cNvPr id="9" name="Shape 6"/>
          <p:cNvSpPr/>
          <p:nvPr/>
        </p:nvSpPr>
        <p:spPr>
          <a:xfrm>
            <a:off x="4297680" y="182880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0" name="Shape 7"/>
          <p:cNvSpPr/>
          <p:nvPr/>
        </p:nvSpPr>
        <p:spPr>
          <a:xfrm>
            <a:off x="4572000" y="2103120"/>
            <a:ext cx="640080" cy="640080"/>
          </a:xfrm>
          <a:prstGeom prst="ellipse">
            <a:avLst/>
          </a:prstGeom>
          <a:solidFill>
            <a:srgbClr val="0A1F3D"/>
          </a:solidFill>
          <a:ln w="12700">
            <a:solidFill>
              <a:srgbClr val="0A1F3D"/>
            </a:solidFill>
            <a:prstDash val="solid"/>
          </a:ln>
        </p:spPr>
      </p:sp>
      <p:pic>
        <p:nvPicPr>
          <p:cNvPr id="11" name="Image 1" descr="preencoded.png"/>
          <p:cNvPicPr>
            <a:picLocks noChangeAspect="1"/>
          </p:cNvPicPr>
          <p:nvPr/>
        </p:nvPicPr>
        <p:blipFill>
          <a:blip r:embed="rId4"/>
          <a:stretch>
            <a:fillRect/>
          </a:stretch>
        </p:blipFill>
        <p:spPr>
          <a:xfrm>
            <a:off x="4732020" y="2263140"/>
            <a:ext cx="320040" cy="320040"/>
          </a:xfrm>
          <a:prstGeom prst="rect">
            <a:avLst/>
          </a:prstGeom>
        </p:spPr>
      </p:pic>
      <p:sp>
        <p:nvSpPr>
          <p:cNvPr id="12" name="Text 8"/>
          <p:cNvSpPr txBox="1"/>
          <p:nvPr/>
        </p:nvSpPr>
        <p:spPr>
          <a:xfrm>
            <a:off x="5394960" y="210312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Solution architecture</a:t>
            </a:r>
            <a:endParaRPr lang="en-US" sz="1900" dirty="0"/>
          </a:p>
        </p:txBody>
      </p:sp>
      <p:sp>
        <p:nvSpPr>
          <p:cNvPr id="13" name="Text 9"/>
          <p:cNvSpPr txBox="1"/>
          <p:nvPr/>
        </p:nvSpPr>
        <p:spPr>
          <a:xfrm>
            <a:off x="4572000" y="292608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Cloud topology, security model and tech stack matrix.</a:t>
            </a:r>
            <a:endParaRPr lang="en-US" sz="1400" dirty="0"/>
          </a:p>
        </p:txBody>
      </p:sp>
      <p:sp>
        <p:nvSpPr>
          <p:cNvPr id="14" name="Shape 10"/>
          <p:cNvSpPr/>
          <p:nvPr/>
        </p:nvSpPr>
        <p:spPr>
          <a:xfrm>
            <a:off x="8046720" y="182880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5" name="Shape 11"/>
          <p:cNvSpPr/>
          <p:nvPr/>
        </p:nvSpPr>
        <p:spPr>
          <a:xfrm>
            <a:off x="8321040" y="2103120"/>
            <a:ext cx="640080" cy="640080"/>
          </a:xfrm>
          <a:prstGeom prst="ellipse">
            <a:avLst/>
          </a:prstGeom>
          <a:solidFill>
            <a:srgbClr val="0A1F3D"/>
          </a:solidFill>
          <a:ln w="12700">
            <a:solidFill>
              <a:srgbClr val="0A1F3D"/>
            </a:solidFill>
            <a:prstDash val="solid"/>
          </a:ln>
        </p:spPr>
      </p:sp>
      <p:pic>
        <p:nvPicPr>
          <p:cNvPr id="16" name="Image 2" descr="preencoded.png"/>
          <p:cNvPicPr>
            <a:picLocks noChangeAspect="1"/>
          </p:cNvPicPr>
          <p:nvPr/>
        </p:nvPicPr>
        <p:blipFill>
          <a:blip r:embed="rId5"/>
          <a:stretch>
            <a:fillRect/>
          </a:stretch>
        </p:blipFill>
        <p:spPr>
          <a:xfrm>
            <a:off x="8481060" y="2263140"/>
            <a:ext cx="320040" cy="320040"/>
          </a:xfrm>
          <a:prstGeom prst="rect">
            <a:avLst/>
          </a:prstGeom>
        </p:spPr>
      </p:pic>
      <p:sp>
        <p:nvSpPr>
          <p:cNvPr id="17" name="Text 12"/>
          <p:cNvSpPr txBox="1"/>
          <p:nvPr/>
        </p:nvSpPr>
        <p:spPr>
          <a:xfrm>
            <a:off x="9144000" y="210312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Process flow (BPMN)</a:t>
            </a:r>
            <a:endParaRPr lang="en-US" sz="1900" dirty="0"/>
          </a:p>
        </p:txBody>
      </p:sp>
      <p:sp>
        <p:nvSpPr>
          <p:cNvPr id="18" name="Text 13"/>
          <p:cNvSpPr txBox="1"/>
          <p:nvPr/>
        </p:nvSpPr>
        <p:spPr>
          <a:xfrm>
            <a:off x="8321040" y="292608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Step-by-step workflow, decision points and SLA escalations.</a:t>
            </a:r>
            <a:endParaRPr lang="en-US" sz="1400" dirty="0"/>
          </a:p>
        </p:txBody>
      </p:sp>
      <p:sp>
        <p:nvSpPr>
          <p:cNvPr id="19" name="Shape 14"/>
          <p:cNvSpPr/>
          <p:nvPr/>
        </p:nvSpPr>
        <p:spPr>
          <a:xfrm>
            <a:off x="548640" y="406908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20" name="Shape 15"/>
          <p:cNvSpPr/>
          <p:nvPr/>
        </p:nvSpPr>
        <p:spPr>
          <a:xfrm>
            <a:off x="822960" y="4343400"/>
            <a:ext cx="640080" cy="640080"/>
          </a:xfrm>
          <a:prstGeom prst="ellipse">
            <a:avLst/>
          </a:prstGeom>
          <a:solidFill>
            <a:srgbClr val="0A1F3D"/>
          </a:solidFill>
          <a:ln w="12700">
            <a:solidFill>
              <a:srgbClr val="0A1F3D"/>
            </a:solidFill>
            <a:prstDash val="solid"/>
          </a:ln>
        </p:spPr>
      </p:sp>
      <p:pic>
        <p:nvPicPr>
          <p:cNvPr id="21" name="Image 3" descr="preencoded.png"/>
          <p:cNvPicPr>
            <a:picLocks noChangeAspect="1"/>
          </p:cNvPicPr>
          <p:nvPr/>
        </p:nvPicPr>
        <p:blipFill>
          <a:blip r:embed="rId6"/>
          <a:stretch>
            <a:fillRect/>
          </a:stretch>
        </p:blipFill>
        <p:spPr>
          <a:xfrm>
            <a:off x="982980" y="4503420"/>
            <a:ext cx="320040" cy="320040"/>
          </a:xfrm>
          <a:prstGeom prst="rect">
            <a:avLst/>
          </a:prstGeom>
        </p:spPr>
      </p:pic>
      <p:sp>
        <p:nvSpPr>
          <p:cNvPr id="22" name="Text 16"/>
          <p:cNvSpPr txBox="1"/>
          <p:nvPr/>
        </p:nvSpPr>
        <p:spPr>
          <a:xfrm>
            <a:off x="1645920" y="434340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Database &amp; REST APIs</a:t>
            </a:r>
            <a:endParaRPr lang="en-US" sz="1900" dirty="0"/>
          </a:p>
        </p:txBody>
      </p:sp>
      <p:sp>
        <p:nvSpPr>
          <p:cNvPr id="23" name="Text 17"/>
          <p:cNvSpPr txBox="1"/>
          <p:nvPr/>
        </p:nvSpPr>
        <p:spPr>
          <a:xfrm>
            <a:off x="822960" y="516636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Normalized MySQL tables with keys and OpenAPI contracts.</a:t>
            </a:r>
            <a:endParaRPr lang="en-US" sz="1400" dirty="0"/>
          </a:p>
        </p:txBody>
      </p:sp>
      <p:sp>
        <p:nvSpPr>
          <p:cNvPr id="24" name="Shape 18"/>
          <p:cNvSpPr/>
          <p:nvPr/>
        </p:nvSpPr>
        <p:spPr>
          <a:xfrm>
            <a:off x="4297680" y="406908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25" name="Shape 19"/>
          <p:cNvSpPr/>
          <p:nvPr/>
        </p:nvSpPr>
        <p:spPr>
          <a:xfrm>
            <a:off x="4572000" y="4343400"/>
            <a:ext cx="640080" cy="640080"/>
          </a:xfrm>
          <a:prstGeom prst="ellipse">
            <a:avLst/>
          </a:prstGeom>
          <a:solidFill>
            <a:srgbClr val="0A1F3D"/>
          </a:solidFill>
          <a:ln w="12700">
            <a:solidFill>
              <a:srgbClr val="0A1F3D"/>
            </a:solidFill>
            <a:prstDash val="solid"/>
          </a:ln>
        </p:spPr>
      </p:sp>
      <p:pic>
        <p:nvPicPr>
          <p:cNvPr id="26" name="Image 4" descr="preencoded.png"/>
          <p:cNvPicPr>
            <a:picLocks noChangeAspect="1"/>
          </p:cNvPicPr>
          <p:nvPr/>
        </p:nvPicPr>
        <p:blipFill>
          <a:blip r:embed="rId7"/>
          <a:stretch>
            <a:fillRect/>
          </a:stretch>
        </p:blipFill>
        <p:spPr>
          <a:xfrm>
            <a:off x="4732020" y="4503420"/>
            <a:ext cx="320040" cy="320040"/>
          </a:xfrm>
          <a:prstGeom prst="rect">
            <a:avLst/>
          </a:prstGeom>
        </p:spPr>
      </p:pic>
      <p:sp>
        <p:nvSpPr>
          <p:cNvPr id="27" name="Text 20"/>
          <p:cNvSpPr txBox="1"/>
          <p:nvPr/>
        </p:nvSpPr>
        <p:spPr>
          <a:xfrm>
            <a:off x="5394960" y="434340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UX wireframes</a:t>
            </a:r>
            <a:endParaRPr lang="en-US" sz="1900" dirty="0"/>
          </a:p>
        </p:txBody>
      </p:sp>
      <p:sp>
        <p:nvSpPr>
          <p:cNvPr id="28" name="Text 21"/>
          <p:cNvSpPr txBox="1"/>
          <p:nvPr/>
        </p:nvSpPr>
        <p:spPr>
          <a:xfrm>
            <a:off x="4572000" y="516636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Low-fidelity layouts that map the user hierarchy.</a:t>
            </a:r>
            <a:endParaRPr lang="en-US" sz="1400" dirty="0"/>
          </a:p>
        </p:txBody>
      </p:sp>
      <p:sp>
        <p:nvSpPr>
          <p:cNvPr id="29" name="Shape 22"/>
          <p:cNvSpPr/>
          <p:nvPr/>
        </p:nvSpPr>
        <p:spPr>
          <a:xfrm>
            <a:off x="8046720" y="406908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30" name="Shape 23"/>
          <p:cNvSpPr/>
          <p:nvPr/>
        </p:nvSpPr>
        <p:spPr>
          <a:xfrm>
            <a:off x="8321040" y="4343400"/>
            <a:ext cx="640080" cy="640080"/>
          </a:xfrm>
          <a:prstGeom prst="ellipse">
            <a:avLst/>
          </a:prstGeom>
          <a:solidFill>
            <a:srgbClr val="0A1F3D"/>
          </a:solidFill>
          <a:ln w="12700">
            <a:solidFill>
              <a:srgbClr val="0A1F3D"/>
            </a:solidFill>
            <a:prstDash val="solid"/>
          </a:ln>
        </p:spPr>
      </p:sp>
      <p:pic>
        <p:nvPicPr>
          <p:cNvPr id="31" name="Image 5" descr="preencoded.png"/>
          <p:cNvPicPr>
            <a:picLocks noChangeAspect="1"/>
          </p:cNvPicPr>
          <p:nvPr/>
        </p:nvPicPr>
        <p:blipFill>
          <a:blip r:embed="rId8"/>
          <a:stretch>
            <a:fillRect/>
          </a:stretch>
        </p:blipFill>
        <p:spPr>
          <a:xfrm>
            <a:off x="8481060" y="4503420"/>
            <a:ext cx="320040" cy="320040"/>
          </a:xfrm>
          <a:prstGeom prst="rect">
            <a:avLst/>
          </a:prstGeom>
        </p:spPr>
      </p:pic>
      <p:sp>
        <p:nvSpPr>
          <p:cNvPr id="32" name="Text 24"/>
          <p:cNvSpPr txBox="1"/>
          <p:nvPr/>
        </p:nvSpPr>
        <p:spPr>
          <a:xfrm>
            <a:off x="9144000" y="434340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Effort &amp; cost band</a:t>
            </a:r>
            <a:endParaRPr lang="en-US" sz="1900" dirty="0"/>
          </a:p>
        </p:txBody>
      </p:sp>
      <p:sp>
        <p:nvSpPr>
          <p:cNvPr id="33" name="Text 25"/>
          <p:cNvSpPr txBox="1"/>
          <p:nvPr/>
        </p:nvSpPr>
        <p:spPr>
          <a:xfrm>
            <a:off x="8321040" y="516636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Three-tier budget estimates and phased sprint milestones.</a:t>
            </a:r>
            <a:endParaRPr lang="en-US" sz="1400" dirty="0"/>
          </a:p>
        </p:txBody>
      </p:sp>
      <p:sp>
        <p:nvSpPr>
          <p:cNvPr id="34" name="Text 2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35" name="Text 27"/>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Inside the Blueprint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Every tab is generated from the same discovery answers.</a:t>
            </a:r>
            <a:endParaRPr lang="en-US" sz="1800" dirty="0"/>
          </a:p>
        </p:txBody>
      </p:sp>
      <p:sp>
        <p:nvSpPr>
          <p:cNvPr id="4" name="Shape 2"/>
          <p:cNvSpPr/>
          <p:nvPr/>
        </p:nvSpPr>
        <p:spPr>
          <a:xfrm>
            <a:off x="1092708" y="1764792"/>
            <a:ext cx="4882896" cy="2248414"/>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pic>
        <p:nvPicPr>
          <p:cNvPr id="5" name="Image 0" descr="shot_stack_w.jpg"/>
          <p:cNvPicPr>
            <a:picLocks noChangeAspect="1"/>
          </p:cNvPicPr>
          <p:nvPr/>
        </p:nvPicPr>
        <p:blipFill>
          <a:blip r:embed="rId3"/>
          <a:stretch>
            <a:fillRect/>
          </a:stretch>
        </p:blipFill>
        <p:spPr>
          <a:xfrm>
            <a:off x="1110996" y="1783080"/>
            <a:ext cx="4846320" cy="2211838"/>
          </a:xfrm>
          <a:prstGeom prst="rect">
            <a:avLst/>
          </a:prstGeom>
        </p:spPr>
      </p:pic>
      <p:sp>
        <p:nvSpPr>
          <p:cNvPr id="6" name="Shape 3"/>
          <p:cNvSpPr/>
          <p:nvPr/>
        </p:nvSpPr>
        <p:spPr>
          <a:xfrm>
            <a:off x="1220724" y="3537718"/>
            <a:ext cx="2318004" cy="347472"/>
          </a:xfrm>
          <a:prstGeom prst="roundRect">
            <a:avLst>
              <a:gd name="adj" fmla="val 50000"/>
            </a:avLst>
          </a:prstGeom>
          <a:solidFill>
            <a:srgbClr val="0A1F3D"/>
          </a:solidFill>
          <a:ln w="12700">
            <a:solidFill>
              <a:srgbClr val="E0A243"/>
            </a:solidFill>
            <a:prstDash val="solid"/>
          </a:ln>
        </p:spPr>
      </p:sp>
      <p:sp>
        <p:nvSpPr>
          <p:cNvPr id="7" name="Text 4"/>
          <p:cNvSpPr txBox="1"/>
          <p:nvPr/>
        </p:nvSpPr>
        <p:spPr>
          <a:xfrm>
            <a:off x="1220724" y="3537718"/>
            <a:ext cx="2318004" cy="347472"/>
          </a:xfrm>
          <a:prstGeom prst="rect">
            <a:avLst/>
          </a:prstGeom>
          <a:noFill/>
          <a:ln/>
        </p:spPr>
        <p:txBody>
          <a:bodyPr wrap="square" lIns="0" tIns="0" rIns="0" bIns="0" rtlCol="0" anchor="ctr"/>
          <a:lstStyle/>
          <a:p>
            <a:pPr marL="0" indent="0" algn="ctr">
              <a:buNone/>
            </a:pPr>
            <a:r>
              <a:rPr lang="en-US" sz="1300" b="1" dirty="0">
                <a:solidFill>
                  <a:srgbClr val="E0A243"/>
                </a:solidFill>
                <a:latin typeface="Calibri" pitchFamily="34" charset="0"/>
                <a:ea typeface="Calibri" pitchFamily="34" charset="-122"/>
                <a:cs typeface="Calibri" pitchFamily="34" charset="-120"/>
              </a:rPr>
              <a:t>1  </a:t>
            </a:r>
            <a:r>
              <a:rPr lang="en-US" sz="1300" b="1" dirty="0">
                <a:solidFill>
                  <a:srgbClr val="FFFFFF"/>
                </a:solidFill>
                <a:latin typeface="Calibri" pitchFamily="34" charset="0"/>
                <a:ea typeface="Calibri" pitchFamily="34" charset="-122"/>
                <a:cs typeface="Calibri" pitchFamily="34" charset="-120"/>
              </a:rPr>
              <a:t>Tech stack matrix</a:t>
            </a:r>
            <a:endParaRPr lang="en-US" sz="1300" dirty="0"/>
          </a:p>
        </p:txBody>
      </p:sp>
      <p:sp>
        <p:nvSpPr>
          <p:cNvPr id="8" name="Shape 5"/>
          <p:cNvSpPr/>
          <p:nvPr/>
        </p:nvSpPr>
        <p:spPr>
          <a:xfrm>
            <a:off x="6213348" y="1764792"/>
            <a:ext cx="4882896" cy="2248414"/>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pic>
        <p:nvPicPr>
          <p:cNvPr id="9" name="Image 1" descr="shot_bpmn_w.jpg"/>
          <p:cNvPicPr>
            <a:picLocks noChangeAspect="1"/>
          </p:cNvPicPr>
          <p:nvPr/>
        </p:nvPicPr>
        <p:blipFill>
          <a:blip r:embed="rId4"/>
          <a:stretch>
            <a:fillRect/>
          </a:stretch>
        </p:blipFill>
        <p:spPr>
          <a:xfrm>
            <a:off x="6231636" y="1783080"/>
            <a:ext cx="4846320" cy="2211838"/>
          </a:xfrm>
          <a:prstGeom prst="rect">
            <a:avLst/>
          </a:prstGeom>
        </p:spPr>
      </p:pic>
      <p:sp>
        <p:nvSpPr>
          <p:cNvPr id="10" name="Shape 6"/>
          <p:cNvSpPr/>
          <p:nvPr/>
        </p:nvSpPr>
        <p:spPr>
          <a:xfrm>
            <a:off x="6341364" y="3537718"/>
            <a:ext cx="2894076" cy="347472"/>
          </a:xfrm>
          <a:prstGeom prst="roundRect">
            <a:avLst>
              <a:gd name="adj" fmla="val 50000"/>
            </a:avLst>
          </a:prstGeom>
          <a:solidFill>
            <a:srgbClr val="0A1F3D"/>
          </a:solidFill>
          <a:ln w="12700">
            <a:solidFill>
              <a:srgbClr val="E0A243"/>
            </a:solidFill>
            <a:prstDash val="solid"/>
          </a:ln>
        </p:spPr>
      </p:sp>
      <p:sp>
        <p:nvSpPr>
          <p:cNvPr id="11" name="Text 7"/>
          <p:cNvSpPr txBox="1"/>
          <p:nvPr/>
        </p:nvSpPr>
        <p:spPr>
          <a:xfrm>
            <a:off x="6341364" y="3537718"/>
            <a:ext cx="2894076" cy="347472"/>
          </a:xfrm>
          <a:prstGeom prst="rect">
            <a:avLst/>
          </a:prstGeom>
          <a:noFill/>
          <a:ln/>
        </p:spPr>
        <p:txBody>
          <a:bodyPr wrap="square" lIns="0" tIns="0" rIns="0" bIns="0" rtlCol="0" anchor="ctr"/>
          <a:lstStyle/>
          <a:p>
            <a:pPr marL="0" indent="0" algn="ctr">
              <a:buNone/>
            </a:pPr>
            <a:r>
              <a:rPr lang="en-US" sz="1300" b="1" dirty="0">
                <a:solidFill>
                  <a:srgbClr val="E0A243"/>
                </a:solidFill>
                <a:latin typeface="Calibri" pitchFamily="34" charset="0"/>
                <a:ea typeface="Calibri" pitchFamily="34" charset="-122"/>
                <a:cs typeface="Calibri" pitchFamily="34" charset="-120"/>
              </a:rPr>
              <a:t>2  </a:t>
            </a:r>
            <a:r>
              <a:rPr lang="en-US" sz="1300" b="1" dirty="0">
                <a:solidFill>
                  <a:srgbClr val="FFFFFF"/>
                </a:solidFill>
                <a:latin typeface="Calibri" pitchFamily="34" charset="0"/>
                <a:ea typeface="Calibri" pitchFamily="34" charset="-122"/>
                <a:cs typeface="Calibri" pitchFamily="34" charset="-120"/>
              </a:rPr>
              <a:t>BPMN workflow with SLAs</a:t>
            </a:r>
            <a:endParaRPr lang="en-US" sz="1300" dirty="0"/>
          </a:p>
        </p:txBody>
      </p:sp>
      <p:sp>
        <p:nvSpPr>
          <p:cNvPr id="12" name="Shape 8"/>
          <p:cNvSpPr/>
          <p:nvPr/>
        </p:nvSpPr>
        <p:spPr>
          <a:xfrm>
            <a:off x="1092708" y="4126013"/>
            <a:ext cx="4882896" cy="2248414"/>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pic>
        <p:nvPicPr>
          <p:cNvPr id="13" name="Image 2" descr="shot_api_w.jpg"/>
          <p:cNvPicPr>
            <a:picLocks noChangeAspect="1"/>
          </p:cNvPicPr>
          <p:nvPr/>
        </p:nvPicPr>
        <p:blipFill>
          <a:blip r:embed="rId5"/>
          <a:stretch>
            <a:fillRect/>
          </a:stretch>
        </p:blipFill>
        <p:spPr>
          <a:xfrm>
            <a:off x="1110996" y="4144301"/>
            <a:ext cx="4846320" cy="2211838"/>
          </a:xfrm>
          <a:prstGeom prst="rect">
            <a:avLst/>
          </a:prstGeom>
        </p:spPr>
      </p:pic>
      <p:sp>
        <p:nvSpPr>
          <p:cNvPr id="14" name="Shape 9"/>
          <p:cNvSpPr/>
          <p:nvPr/>
        </p:nvSpPr>
        <p:spPr>
          <a:xfrm>
            <a:off x="1220724" y="5898939"/>
            <a:ext cx="2414016" cy="347472"/>
          </a:xfrm>
          <a:prstGeom prst="roundRect">
            <a:avLst>
              <a:gd name="adj" fmla="val 50000"/>
            </a:avLst>
          </a:prstGeom>
          <a:solidFill>
            <a:srgbClr val="0A1F3D"/>
          </a:solidFill>
          <a:ln w="12700">
            <a:solidFill>
              <a:srgbClr val="E0A243"/>
            </a:solidFill>
            <a:prstDash val="solid"/>
          </a:ln>
        </p:spPr>
      </p:sp>
      <p:sp>
        <p:nvSpPr>
          <p:cNvPr id="15" name="Text 10"/>
          <p:cNvSpPr txBox="1"/>
          <p:nvPr/>
        </p:nvSpPr>
        <p:spPr>
          <a:xfrm>
            <a:off x="1220724" y="5898939"/>
            <a:ext cx="2414016" cy="347472"/>
          </a:xfrm>
          <a:prstGeom prst="rect">
            <a:avLst/>
          </a:prstGeom>
          <a:noFill/>
          <a:ln/>
        </p:spPr>
        <p:txBody>
          <a:bodyPr wrap="square" lIns="0" tIns="0" rIns="0" bIns="0" rtlCol="0" anchor="ctr"/>
          <a:lstStyle/>
          <a:p>
            <a:pPr marL="0" indent="0" algn="ctr">
              <a:buNone/>
            </a:pPr>
            <a:r>
              <a:rPr lang="en-US" sz="1300" b="1" dirty="0">
                <a:solidFill>
                  <a:srgbClr val="E0A243"/>
                </a:solidFill>
                <a:latin typeface="Calibri" pitchFamily="34" charset="0"/>
                <a:ea typeface="Calibri" pitchFamily="34" charset="-122"/>
                <a:cs typeface="Calibri" pitchFamily="34" charset="-120"/>
              </a:rPr>
              <a:t>3  </a:t>
            </a:r>
            <a:r>
              <a:rPr lang="en-US" sz="1300" b="1" dirty="0">
                <a:solidFill>
                  <a:srgbClr val="FFFFFF"/>
                </a:solidFill>
                <a:latin typeface="Calibri" pitchFamily="34" charset="0"/>
                <a:ea typeface="Calibri" pitchFamily="34" charset="-122"/>
                <a:cs typeface="Calibri" pitchFamily="34" charset="-120"/>
              </a:rPr>
              <a:t>REST API contracts</a:t>
            </a:r>
            <a:endParaRPr lang="en-US" sz="1300" dirty="0"/>
          </a:p>
        </p:txBody>
      </p:sp>
      <p:sp>
        <p:nvSpPr>
          <p:cNvPr id="16" name="Shape 11"/>
          <p:cNvSpPr/>
          <p:nvPr/>
        </p:nvSpPr>
        <p:spPr>
          <a:xfrm>
            <a:off x="6213348" y="4126013"/>
            <a:ext cx="4882896" cy="2248414"/>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pic>
        <p:nvPicPr>
          <p:cNvPr id="17" name="Image 3" descr="shot_phases_w.jpg"/>
          <p:cNvPicPr>
            <a:picLocks noChangeAspect="1"/>
          </p:cNvPicPr>
          <p:nvPr/>
        </p:nvPicPr>
        <p:blipFill>
          <a:blip r:embed="rId6"/>
          <a:stretch>
            <a:fillRect/>
          </a:stretch>
        </p:blipFill>
        <p:spPr>
          <a:xfrm>
            <a:off x="6231636" y="4144301"/>
            <a:ext cx="4846320" cy="2211838"/>
          </a:xfrm>
          <a:prstGeom prst="rect">
            <a:avLst/>
          </a:prstGeom>
        </p:spPr>
      </p:pic>
      <p:sp>
        <p:nvSpPr>
          <p:cNvPr id="18" name="Shape 12"/>
          <p:cNvSpPr/>
          <p:nvPr/>
        </p:nvSpPr>
        <p:spPr>
          <a:xfrm>
            <a:off x="6341364" y="5898939"/>
            <a:ext cx="2990088" cy="347472"/>
          </a:xfrm>
          <a:prstGeom prst="roundRect">
            <a:avLst>
              <a:gd name="adj" fmla="val 50000"/>
            </a:avLst>
          </a:prstGeom>
          <a:solidFill>
            <a:srgbClr val="0A1F3D"/>
          </a:solidFill>
          <a:ln w="12700">
            <a:solidFill>
              <a:srgbClr val="E0A243"/>
            </a:solidFill>
            <a:prstDash val="solid"/>
          </a:ln>
        </p:spPr>
      </p:sp>
      <p:sp>
        <p:nvSpPr>
          <p:cNvPr id="19" name="Text 13"/>
          <p:cNvSpPr txBox="1"/>
          <p:nvPr/>
        </p:nvSpPr>
        <p:spPr>
          <a:xfrm>
            <a:off x="6341364" y="5898939"/>
            <a:ext cx="2990088" cy="347472"/>
          </a:xfrm>
          <a:prstGeom prst="rect">
            <a:avLst/>
          </a:prstGeom>
          <a:noFill/>
          <a:ln/>
        </p:spPr>
        <p:txBody>
          <a:bodyPr wrap="square" lIns="0" tIns="0" rIns="0" bIns="0" rtlCol="0" anchor="ctr"/>
          <a:lstStyle/>
          <a:p>
            <a:pPr marL="0" indent="0" algn="ctr">
              <a:buNone/>
            </a:pPr>
            <a:r>
              <a:rPr lang="en-US" sz="1300" b="1" dirty="0">
                <a:solidFill>
                  <a:srgbClr val="E0A243"/>
                </a:solidFill>
                <a:latin typeface="Calibri" pitchFamily="34" charset="0"/>
                <a:ea typeface="Calibri" pitchFamily="34" charset="-122"/>
                <a:cs typeface="Calibri" pitchFamily="34" charset="-120"/>
              </a:rPr>
              <a:t>4  </a:t>
            </a:r>
            <a:r>
              <a:rPr lang="en-US" sz="1300" b="1" dirty="0">
                <a:solidFill>
                  <a:srgbClr val="FFFFFF"/>
                </a:solidFill>
                <a:latin typeface="Calibri" pitchFamily="34" charset="0"/>
                <a:ea typeface="Calibri" pitchFamily="34" charset="-122"/>
                <a:cs typeface="Calibri" pitchFamily="34" charset="-120"/>
              </a:rPr>
              <a:t>Phased delivery schedule</a:t>
            </a:r>
            <a:endParaRPr lang="en-US" sz="1300" dirty="0"/>
          </a:p>
        </p:txBody>
      </p:sp>
      <p:sp>
        <p:nvSpPr>
          <p:cNvPr id="20" name="Text 14"/>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21" name="Text 15"/>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Under the Hood</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Three decoupled tiers, so AI workloads never block the app.</a:t>
            </a:r>
            <a:endParaRPr lang="en-US" sz="1800" dirty="0"/>
          </a:p>
        </p:txBody>
      </p:sp>
      <p:sp>
        <p:nvSpPr>
          <p:cNvPr id="4" name="Shape 2"/>
          <p:cNvSpPr/>
          <p:nvPr/>
        </p:nvSpPr>
        <p:spPr>
          <a:xfrm>
            <a:off x="548640" y="1874520"/>
            <a:ext cx="3291840" cy="3657600"/>
          </a:xfrm>
          <a:prstGeom prst="rect">
            <a:avLst/>
          </a:prstGeom>
          <a:solidFill>
            <a:srgbClr val="F6F8FB"/>
          </a:solidFill>
          <a:ln w="12700">
            <a:solidFill>
              <a:srgbClr val="D5DCE8"/>
            </a:solidFill>
            <a:prstDash val="solid"/>
          </a:ln>
          <a:effectLst>
            <a:outerShdw blurRad="101600" dist="25400" dir="5400000" algn="bl" rotWithShape="0">
              <a:srgbClr val="000000">
                <a:alpha val="12000"/>
              </a:srgbClr>
            </a:outerShdw>
          </a:effectLst>
        </p:spPr>
      </p:sp>
      <p:sp>
        <p:nvSpPr>
          <p:cNvPr id="5" name="Shape 3"/>
          <p:cNvSpPr/>
          <p:nvPr/>
        </p:nvSpPr>
        <p:spPr>
          <a:xfrm>
            <a:off x="548640" y="1874520"/>
            <a:ext cx="3291840" cy="1143000"/>
          </a:xfrm>
          <a:prstGeom prst="rect">
            <a:avLst/>
          </a:prstGeom>
          <a:solidFill>
            <a:srgbClr val="0A1F3D"/>
          </a:solidFill>
          <a:ln w="12700">
            <a:solidFill>
              <a:srgbClr val="0A1F3D"/>
            </a:solidFill>
            <a:prstDash val="solid"/>
          </a:ln>
        </p:spPr>
      </p:sp>
      <p:pic>
        <p:nvPicPr>
          <p:cNvPr id="6" name="Image 0" descr="preencoded.png"/>
          <p:cNvPicPr>
            <a:picLocks noChangeAspect="1"/>
          </p:cNvPicPr>
          <p:nvPr/>
        </p:nvPicPr>
        <p:blipFill>
          <a:blip r:embed="rId3"/>
          <a:stretch>
            <a:fillRect/>
          </a:stretch>
        </p:blipFill>
        <p:spPr>
          <a:xfrm>
            <a:off x="822960" y="2194560"/>
            <a:ext cx="502920" cy="502920"/>
          </a:xfrm>
          <a:prstGeom prst="rect">
            <a:avLst/>
          </a:prstGeom>
        </p:spPr>
      </p:pic>
      <p:sp>
        <p:nvSpPr>
          <p:cNvPr id="7" name="Text 4"/>
          <p:cNvSpPr txBox="1"/>
          <p:nvPr/>
        </p:nvSpPr>
        <p:spPr>
          <a:xfrm>
            <a:off x="1508760" y="2103120"/>
            <a:ext cx="219456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React + Vite</a:t>
            </a:r>
            <a:endParaRPr lang="en-US" sz="1800" dirty="0"/>
          </a:p>
        </p:txBody>
      </p:sp>
      <p:sp>
        <p:nvSpPr>
          <p:cNvPr id="8" name="Text 5"/>
          <p:cNvSpPr txBox="1"/>
          <p:nvPr/>
        </p:nvSpPr>
        <p:spPr>
          <a:xfrm>
            <a:off x="1508760" y="2496312"/>
            <a:ext cx="2194560" cy="320040"/>
          </a:xfrm>
          <a:prstGeom prst="rect">
            <a:avLst/>
          </a:prstGeom>
          <a:noFill/>
          <a:ln/>
        </p:spPr>
        <p:txBody>
          <a:bodyPr wrap="square" lIns="0" tIns="0" rIns="0" bIns="0" rtlCol="0" anchor="ctr"/>
          <a:lstStyle/>
          <a:p>
            <a:pPr marL="0" indent="0">
              <a:buNone/>
            </a:pPr>
            <a:r>
              <a:rPr lang="en-US" sz="1300" dirty="0">
                <a:solidFill>
                  <a:srgbClr val="E0A243"/>
                </a:solidFill>
                <a:latin typeface="Calibri" pitchFamily="34" charset="0"/>
                <a:ea typeface="Calibri" pitchFamily="34" charset="-122"/>
                <a:cs typeface="Calibri" pitchFamily="34" charset="-120"/>
              </a:rPr>
              <a:t>Web client</a:t>
            </a:r>
            <a:endParaRPr lang="en-US" sz="1300" dirty="0"/>
          </a:p>
        </p:txBody>
      </p:sp>
      <p:sp>
        <p:nvSpPr>
          <p:cNvPr id="9" name="Text 6"/>
          <p:cNvSpPr txBox="1"/>
          <p:nvPr/>
        </p:nvSpPr>
        <p:spPr>
          <a:xfrm>
            <a:off x="822960" y="3291840"/>
            <a:ext cx="2788920" cy="21945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Workspace UI: intake, discovery, blueprint hub</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Version history and compare view</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PDF, Word and JSON export</a:t>
            </a:r>
            <a:endParaRPr lang="en-US" sz="1600" dirty="0"/>
          </a:p>
        </p:txBody>
      </p:sp>
      <p:pic>
        <p:nvPicPr>
          <p:cNvPr id="10" name="Image 1" descr="preencoded.png"/>
          <p:cNvPicPr>
            <a:picLocks noChangeAspect="1"/>
          </p:cNvPicPr>
          <p:nvPr/>
        </p:nvPicPr>
        <p:blipFill>
          <a:blip r:embed="rId4"/>
          <a:stretch>
            <a:fillRect/>
          </a:stretch>
        </p:blipFill>
        <p:spPr>
          <a:xfrm>
            <a:off x="4023360" y="3657600"/>
            <a:ext cx="320040" cy="320040"/>
          </a:xfrm>
          <a:prstGeom prst="rect">
            <a:avLst/>
          </a:prstGeom>
        </p:spPr>
      </p:pic>
      <p:sp>
        <p:nvSpPr>
          <p:cNvPr id="11" name="Shape 7"/>
          <p:cNvSpPr/>
          <p:nvPr/>
        </p:nvSpPr>
        <p:spPr>
          <a:xfrm>
            <a:off x="4526280" y="1874520"/>
            <a:ext cx="3291840" cy="3657600"/>
          </a:xfrm>
          <a:prstGeom prst="rect">
            <a:avLst/>
          </a:prstGeom>
          <a:solidFill>
            <a:srgbClr val="F6F8FB"/>
          </a:solidFill>
          <a:ln w="12700">
            <a:solidFill>
              <a:srgbClr val="D5DCE8"/>
            </a:solidFill>
            <a:prstDash val="solid"/>
          </a:ln>
          <a:effectLst>
            <a:outerShdw blurRad="101600" dist="25400" dir="5400000" algn="bl" rotWithShape="0">
              <a:srgbClr val="000000">
                <a:alpha val="12000"/>
              </a:srgbClr>
            </a:outerShdw>
          </a:effectLst>
        </p:spPr>
      </p:sp>
      <p:sp>
        <p:nvSpPr>
          <p:cNvPr id="12" name="Shape 8"/>
          <p:cNvSpPr/>
          <p:nvPr/>
        </p:nvSpPr>
        <p:spPr>
          <a:xfrm>
            <a:off x="4526280" y="1874520"/>
            <a:ext cx="3291840" cy="1143000"/>
          </a:xfrm>
          <a:prstGeom prst="rect">
            <a:avLst/>
          </a:prstGeom>
          <a:solidFill>
            <a:srgbClr val="0A1F3D"/>
          </a:solidFill>
          <a:ln w="12700">
            <a:solidFill>
              <a:srgbClr val="0A1F3D"/>
            </a:solidFill>
            <a:prstDash val="solid"/>
          </a:ln>
        </p:spPr>
      </p:sp>
      <p:pic>
        <p:nvPicPr>
          <p:cNvPr id="13" name="Image 2" descr="preencoded.png"/>
          <p:cNvPicPr>
            <a:picLocks noChangeAspect="1"/>
          </p:cNvPicPr>
          <p:nvPr/>
        </p:nvPicPr>
        <p:blipFill>
          <a:blip r:embed="rId5"/>
          <a:stretch>
            <a:fillRect/>
          </a:stretch>
        </p:blipFill>
        <p:spPr>
          <a:xfrm>
            <a:off x="4800600" y="2194560"/>
            <a:ext cx="502920" cy="502920"/>
          </a:xfrm>
          <a:prstGeom prst="rect">
            <a:avLst/>
          </a:prstGeom>
        </p:spPr>
      </p:pic>
      <p:sp>
        <p:nvSpPr>
          <p:cNvPr id="14" name="Text 9"/>
          <p:cNvSpPr txBox="1"/>
          <p:nvPr/>
        </p:nvSpPr>
        <p:spPr>
          <a:xfrm>
            <a:off x="5486400" y="2103120"/>
            <a:ext cx="219456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Node.js + Express</a:t>
            </a:r>
            <a:endParaRPr lang="en-US" sz="1800" dirty="0"/>
          </a:p>
        </p:txBody>
      </p:sp>
      <p:sp>
        <p:nvSpPr>
          <p:cNvPr id="15" name="Text 10"/>
          <p:cNvSpPr txBox="1"/>
          <p:nvPr/>
        </p:nvSpPr>
        <p:spPr>
          <a:xfrm>
            <a:off x="5486400" y="2496312"/>
            <a:ext cx="2194560" cy="320040"/>
          </a:xfrm>
          <a:prstGeom prst="rect">
            <a:avLst/>
          </a:prstGeom>
          <a:noFill/>
          <a:ln/>
        </p:spPr>
        <p:txBody>
          <a:bodyPr wrap="square" lIns="0" tIns="0" rIns="0" bIns="0" rtlCol="0" anchor="ctr"/>
          <a:lstStyle/>
          <a:p>
            <a:pPr marL="0" indent="0">
              <a:buNone/>
            </a:pPr>
            <a:r>
              <a:rPr lang="en-US" sz="1300" dirty="0">
                <a:solidFill>
                  <a:srgbClr val="E0A243"/>
                </a:solidFill>
                <a:latin typeface="Calibri" pitchFamily="34" charset="0"/>
                <a:ea typeface="Calibri" pitchFamily="34" charset="-122"/>
                <a:cs typeface="Calibri" pitchFamily="34" charset="-120"/>
              </a:rPr>
              <a:t>API gateway</a:t>
            </a:r>
            <a:endParaRPr lang="en-US" sz="1300" dirty="0"/>
          </a:p>
        </p:txBody>
      </p:sp>
      <p:sp>
        <p:nvSpPr>
          <p:cNvPr id="16" name="Text 11"/>
          <p:cNvSpPr txBox="1"/>
          <p:nvPr/>
        </p:nvSpPr>
        <p:spPr>
          <a:xfrm>
            <a:off x="4800600" y="3291840"/>
            <a:ext cx="2788920" cy="21945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JWT authentication, bcrypt-hashed passwords</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MySQL 8.0: 13 tables, sessions and version snapshots</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Bridge to the AI service</a:t>
            </a:r>
            <a:endParaRPr lang="en-US" sz="1600" dirty="0"/>
          </a:p>
        </p:txBody>
      </p:sp>
      <p:pic>
        <p:nvPicPr>
          <p:cNvPr id="17" name="Image 3" descr="preencoded.png"/>
          <p:cNvPicPr>
            <a:picLocks noChangeAspect="1"/>
          </p:cNvPicPr>
          <p:nvPr/>
        </p:nvPicPr>
        <p:blipFill>
          <a:blip r:embed="rId4"/>
          <a:stretch>
            <a:fillRect/>
          </a:stretch>
        </p:blipFill>
        <p:spPr>
          <a:xfrm>
            <a:off x="8001000" y="3657600"/>
            <a:ext cx="320040" cy="320040"/>
          </a:xfrm>
          <a:prstGeom prst="rect">
            <a:avLst/>
          </a:prstGeom>
        </p:spPr>
      </p:pic>
      <p:sp>
        <p:nvSpPr>
          <p:cNvPr id="18" name="Shape 12"/>
          <p:cNvSpPr/>
          <p:nvPr/>
        </p:nvSpPr>
        <p:spPr>
          <a:xfrm>
            <a:off x="8503920" y="1874520"/>
            <a:ext cx="3291840" cy="3657600"/>
          </a:xfrm>
          <a:prstGeom prst="rect">
            <a:avLst/>
          </a:prstGeom>
          <a:solidFill>
            <a:srgbClr val="F6F8FB"/>
          </a:solidFill>
          <a:ln w="12700">
            <a:solidFill>
              <a:srgbClr val="D5DCE8"/>
            </a:solidFill>
            <a:prstDash val="solid"/>
          </a:ln>
          <a:effectLst>
            <a:outerShdw blurRad="101600" dist="25400" dir="5400000" algn="bl" rotWithShape="0">
              <a:srgbClr val="000000">
                <a:alpha val="12000"/>
              </a:srgbClr>
            </a:outerShdw>
          </a:effectLst>
        </p:spPr>
      </p:sp>
      <p:sp>
        <p:nvSpPr>
          <p:cNvPr id="19" name="Shape 13"/>
          <p:cNvSpPr/>
          <p:nvPr/>
        </p:nvSpPr>
        <p:spPr>
          <a:xfrm>
            <a:off x="8503920" y="1874520"/>
            <a:ext cx="3291840" cy="1143000"/>
          </a:xfrm>
          <a:prstGeom prst="rect">
            <a:avLst/>
          </a:prstGeom>
          <a:solidFill>
            <a:srgbClr val="0A1F3D"/>
          </a:solidFill>
          <a:ln w="12700">
            <a:solidFill>
              <a:srgbClr val="0A1F3D"/>
            </a:solidFill>
            <a:prstDash val="solid"/>
          </a:ln>
        </p:spPr>
      </p:sp>
      <p:pic>
        <p:nvPicPr>
          <p:cNvPr id="20" name="Image 4" descr="preencoded.png"/>
          <p:cNvPicPr>
            <a:picLocks noChangeAspect="1"/>
          </p:cNvPicPr>
          <p:nvPr/>
        </p:nvPicPr>
        <p:blipFill>
          <a:blip r:embed="rId6"/>
          <a:stretch>
            <a:fillRect/>
          </a:stretch>
        </p:blipFill>
        <p:spPr>
          <a:xfrm>
            <a:off x="8778240" y="2194560"/>
            <a:ext cx="502920" cy="502920"/>
          </a:xfrm>
          <a:prstGeom prst="rect">
            <a:avLst/>
          </a:prstGeom>
        </p:spPr>
      </p:pic>
      <p:sp>
        <p:nvSpPr>
          <p:cNvPr id="21" name="Text 14"/>
          <p:cNvSpPr txBox="1"/>
          <p:nvPr/>
        </p:nvSpPr>
        <p:spPr>
          <a:xfrm>
            <a:off x="9464040" y="2103120"/>
            <a:ext cx="219456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Python FastAPI</a:t>
            </a:r>
            <a:endParaRPr lang="en-US" sz="1800" dirty="0"/>
          </a:p>
        </p:txBody>
      </p:sp>
      <p:sp>
        <p:nvSpPr>
          <p:cNvPr id="22" name="Text 15"/>
          <p:cNvSpPr txBox="1"/>
          <p:nvPr/>
        </p:nvSpPr>
        <p:spPr>
          <a:xfrm>
            <a:off x="9464040" y="2496312"/>
            <a:ext cx="2194560" cy="320040"/>
          </a:xfrm>
          <a:prstGeom prst="rect">
            <a:avLst/>
          </a:prstGeom>
          <a:noFill/>
          <a:ln/>
        </p:spPr>
        <p:txBody>
          <a:bodyPr wrap="square" lIns="0" tIns="0" rIns="0" bIns="0" rtlCol="0" anchor="ctr"/>
          <a:lstStyle/>
          <a:p>
            <a:pPr marL="0" indent="0">
              <a:buNone/>
            </a:pPr>
            <a:r>
              <a:rPr lang="en-US" sz="1300" dirty="0">
                <a:solidFill>
                  <a:srgbClr val="E0A243"/>
                </a:solidFill>
                <a:latin typeface="Calibri" pitchFamily="34" charset="0"/>
                <a:ea typeface="Calibri" pitchFamily="34" charset="-122"/>
                <a:cs typeface="Calibri" pitchFamily="34" charset="-120"/>
              </a:rPr>
              <a:t>Compile AI engine</a:t>
            </a:r>
            <a:endParaRPr lang="en-US" sz="1300" dirty="0"/>
          </a:p>
        </p:txBody>
      </p:sp>
      <p:sp>
        <p:nvSpPr>
          <p:cNvPr id="23" name="Text 16"/>
          <p:cNvSpPr txBox="1"/>
          <p:nvPr/>
        </p:nvSpPr>
        <p:spPr>
          <a:xfrm>
            <a:off x="8778240" y="3291840"/>
            <a:ext cx="2788920" cy="21945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scikit-learn classifier: domain and budget</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Gemini generation with OpenAI fallback</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Dataset-grounded offline fallback</a:t>
            </a:r>
            <a:endParaRPr lang="en-US" sz="1600" dirty="0"/>
          </a:p>
        </p:txBody>
      </p:sp>
      <p:sp>
        <p:nvSpPr>
          <p:cNvPr id="24" name="Text 17"/>
          <p:cNvSpPr txBox="1"/>
          <p:nvPr/>
        </p:nvSpPr>
        <p:spPr>
          <a:xfrm>
            <a:off x="548640" y="5760720"/>
            <a:ext cx="11064240" cy="320040"/>
          </a:xfrm>
          <a:prstGeom prst="rect">
            <a:avLst/>
          </a:prstGeom>
          <a:noFill/>
          <a:ln/>
        </p:spPr>
        <p:txBody>
          <a:bodyPr wrap="square" lIns="0" tIns="0" rIns="0" bIns="0" rtlCol="0" anchor="ctr"/>
          <a:lstStyle/>
          <a:p>
            <a:pPr marL="0" indent="0">
              <a:buNone/>
            </a:pPr>
            <a:r>
              <a:rPr lang="en-US" sz="1300" i="1" dirty="0">
                <a:solidFill>
                  <a:srgbClr val="5B6B82"/>
                </a:solidFill>
                <a:latin typeface="Calibri" pitchFamily="34" charset="0"/>
                <a:ea typeface="Calibri" pitchFamily="34" charset="-122"/>
                <a:cs typeface="Calibri" pitchFamily="34" charset="-120"/>
              </a:rPr>
              <a:t>REST between client and gateway  ·  HTTP/JSON between gateway and AI service</a:t>
            </a:r>
            <a:endParaRPr lang="en-US" sz="1300" dirty="0"/>
          </a:p>
        </p:txBody>
      </p:sp>
      <p:sp>
        <p:nvSpPr>
          <p:cNvPr id="25" name="Text 18"/>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26" name="Text 19"/>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D"/>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Built Like Software, Not a Chatbot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B9C7DD"/>
                </a:solidFill>
                <a:latin typeface="Calibri" pitchFamily="34" charset="0"/>
                <a:ea typeface="Calibri" pitchFamily="34" charset="-122"/>
                <a:cs typeface="Calibri" pitchFamily="34" charset="-120"/>
              </a:rPr>
              <a:t>Version control and resilience are what make it usable in the real world.</a:t>
            </a:r>
            <a:endParaRPr lang="en-US" sz="1800" dirty="0"/>
          </a:p>
        </p:txBody>
      </p:sp>
      <p:sp>
        <p:nvSpPr>
          <p:cNvPr id="4" name="Shape 2"/>
          <p:cNvSpPr/>
          <p:nvPr/>
        </p:nvSpPr>
        <p:spPr>
          <a:xfrm>
            <a:off x="548640" y="1828800"/>
            <a:ext cx="5440680" cy="4297680"/>
          </a:xfrm>
          <a:prstGeom prst="rect">
            <a:avLst/>
          </a:prstGeom>
          <a:solidFill>
            <a:srgbClr val="10284D"/>
          </a:solidFill>
          <a:ln w="12700">
            <a:solidFill>
              <a:srgbClr val="17335F"/>
            </a:solidFill>
            <a:prstDash val="solid"/>
          </a:ln>
        </p:spPr>
      </p:sp>
      <p:sp>
        <p:nvSpPr>
          <p:cNvPr id="5" name="Text 3"/>
          <p:cNvSpPr txBox="1"/>
          <p:nvPr/>
        </p:nvSpPr>
        <p:spPr>
          <a:xfrm>
            <a:off x="868680" y="2011680"/>
            <a:ext cx="4572000" cy="411480"/>
          </a:xfrm>
          <a:prstGeom prst="rect">
            <a:avLst/>
          </a:prstGeom>
          <a:noFill/>
          <a:ln/>
        </p:spPr>
        <p:txBody>
          <a:bodyPr wrap="square" lIns="0" tIns="0" rIns="0" bIns="0" rtlCol="0" anchor="ctr"/>
          <a:lstStyle/>
          <a:p>
            <a:pPr marL="0" indent="0">
              <a:buNone/>
            </a:pPr>
            <a:r>
              <a:rPr lang="en-US" sz="2200" b="1" dirty="0">
                <a:solidFill>
                  <a:srgbClr val="E0A243"/>
                </a:solidFill>
                <a:latin typeface="Cambria" pitchFamily="34" charset="0"/>
                <a:ea typeface="Cambria" pitchFamily="34" charset="-122"/>
                <a:cs typeface="Cambria" pitchFamily="34" charset="-120"/>
              </a:rPr>
              <a:t>Version ledger</a:t>
            </a:r>
            <a:endParaRPr lang="en-US" sz="2200" dirty="0"/>
          </a:p>
        </p:txBody>
      </p:sp>
      <p:sp>
        <p:nvSpPr>
          <p:cNvPr id="6" name="Shape 4"/>
          <p:cNvSpPr/>
          <p:nvPr/>
        </p:nvSpPr>
        <p:spPr>
          <a:xfrm>
            <a:off x="850392" y="2542032"/>
            <a:ext cx="4608576" cy="2123216"/>
          </a:xfrm>
          <a:prstGeom prst="rect">
            <a:avLst/>
          </a:prstGeom>
          <a:solidFill>
            <a:srgbClr val="FFFFFF"/>
          </a:solidFill>
          <a:ln w="12700">
            <a:solidFill>
              <a:srgbClr val="E0A243"/>
            </a:solidFill>
            <a:prstDash val="solid"/>
          </a:ln>
        </p:spPr>
      </p:sp>
      <p:pic>
        <p:nvPicPr>
          <p:cNvPr id="7" name="Image 0" descr="shot_versions_c.jpg"/>
          <p:cNvPicPr>
            <a:picLocks noChangeAspect="1"/>
          </p:cNvPicPr>
          <p:nvPr/>
        </p:nvPicPr>
        <p:blipFill>
          <a:blip r:embed="rId3"/>
          <a:stretch>
            <a:fillRect/>
          </a:stretch>
        </p:blipFill>
        <p:spPr>
          <a:xfrm>
            <a:off x="868680" y="2560320"/>
            <a:ext cx="4572000" cy="2086640"/>
          </a:xfrm>
          <a:prstGeom prst="rect">
            <a:avLst/>
          </a:prstGeom>
        </p:spPr>
      </p:pic>
      <p:sp>
        <p:nvSpPr>
          <p:cNvPr id="8" name="Text 5"/>
          <p:cNvSpPr txBox="1"/>
          <p:nvPr/>
        </p:nvSpPr>
        <p:spPr>
          <a:xfrm>
            <a:off x="868680" y="4829840"/>
            <a:ext cx="4846320" cy="9601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B9C7DD"/>
                </a:solidFill>
                <a:latin typeface="Calibri" pitchFamily="34" charset="0"/>
                <a:ea typeface="Calibri" pitchFamily="34" charset="-122"/>
                <a:cs typeface="Calibri" pitchFamily="34" charset="-120"/>
              </a:rPr>
              <a:t>Regenerate one section without touching the rest</a:t>
            </a:r>
            <a:endParaRPr lang="en-US" sz="1400" dirty="0"/>
          </a:p>
          <a:p>
            <a:pPr marL="342900" indent="-342900">
              <a:spcAft>
                <a:spcPts val="400"/>
              </a:spcAft>
              <a:buSzPct val="100000"/>
              <a:buChar char="•"/>
            </a:pPr>
            <a:r>
              <a:rPr lang="en-US" sz="1400" dirty="0">
                <a:solidFill>
                  <a:srgbClr val="B9C7DD"/>
                </a:solidFill>
                <a:latin typeface="Calibri" pitchFamily="34" charset="0"/>
                <a:ea typeface="Calibri" pitchFamily="34" charset="-122"/>
                <a:cs typeface="Calibri" pitchFamily="34" charset="-120"/>
              </a:rPr>
              <a:t>Side-by-side compare against the live version</a:t>
            </a:r>
            <a:endParaRPr lang="en-US" sz="1400" dirty="0"/>
          </a:p>
          <a:p>
            <a:pPr marL="342900" indent="-342900">
              <a:spcAft>
                <a:spcPts val="400"/>
              </a:spcAft>
              <a:buSzPct val="100000"/>
              <a:buChar char="•"/>
            </a:pPr>
            <a:r>
              <a:rPr lang="en-US" sz="1400" dirty="0">
                <a:solidFill>
                  <a:srgbClr val="B9C7DD"/>
                </a:solidFill>
                <a:latin typeface="Calibri" pitchFamily="34" charset="0"/>
                <a:ea typeface="Calibri" pitchFamily="34" charset="-122"/>
                <a:cs typeface="Calibri" pitchFamily="34" charset="-120"/>
              </a:rPr>
              <a:t>Rollback ledger of immutable snapshots</a:t>
            </a:r>
            <a:endParaRPr lang="en-US" sz="1400" dirty="0"/>
          </a:p>
        </p:txBody>
      </p:sp>
      <p:sp>
        <p:nvSpPr>
          <p:cNvPr id="9" name="Shape 6"/>
          <p:cNvSpPr/>
          <p:nvPr/>
        </p:nvSpPr>
        <p:spPr>
          <a:xfrm>
            <a:off x="6199632" y="1828800"/>
            <a:ext cx="5440680" cy="4297680"/>
          </a:xfrm>
          <a:prstGeom prst="rect">
            <a:avLst/>
          </a:prstGeom>
          <a:solidFill>
            <a:srgbClr val="10284D"/>
          </a:solidFill>
          <a:ln w="12700">
            <a:solidFill>
              <a:srgbClr val="17335F"/>
            </a:solidFill>
            <a:prstDash val="solid"/>
          </a:ln>
        </p:spPr>
      </p:sp>
      <p:sp>
        <p:nvSpPr>
          <p:cNvPr id="10" name="Text 7"/>
          <p:cNvSpPr txBox="1"/>
          <p:nvPr/>
        </p:nvSpPr>
        <p:spPr>
          <a:xfrm>
            <a:off x="6519672" y="2011680"/>
            <a:ext cx="4572000" cy="411480"/>
          </a:xfrm>
          <a:prstGeom prst="rect">
            <a:avLst/>
          </a:prstGeom>
          <a:noFill/>
          <a:ln/>
        </p:spPr>
        <p:txBody>
          <a:bodyPr wrap="square" lIns="0" tIns="0" rIns="0" bIns="0" rtlCol="0" anchor="ctr"/>
          <a:lstStyle/>
          <a:p>
            <a:pPr marL="0" indent="0">
              <a:buNone/>
            </a:pPr>
            <a:r>
              <a:rPr lang="en-US" sz="2200" b="1" dirty="0">
                <a:solidFill>
                  <a:srgbClr val="E0A243"/>
                </a:solidFill>
                <a:latin typeface="Cambria" pitchFamily="34" charset="0"/>
                <a:ea typeface="Cambria" pitchFamily="34" charset="-122"/>
                <a:cs typeface="Cambria" pitchFamily="34" charset="-120"/>
              </a:rPr>
              <a:t>Resilient AI engine</a:t>
            </a:r>
            <a:endParaRPr lang="en-US" sz="2200" dirty="0"/>
          </a:p>
        </p:txBody>
      </p:sp>
      <p:sp>
        <p:nvSpPr>
          <p:cNvPr id="11" name="Shape 8"/>
          <p:cNvSpPr/>
          <p:nvPr/>
        </p:nvSpPr>
        <p:spPr>
          <a:xfrm>
            <a:off x="6519672" y="2651760"/>
            <a:ext cx="457200" cy="457200"/>
          </a:xfrm>
          <a:prstGeom prst="ellipse">
            <a:avLst/>
          </a:prstGeom>
          <a:solidFill>
            <a:srgbClr val="E0A243"/>
          </a:solidFill>
          <a:ln w="12700">
            <a:solidFill>
              <a:srgbClr val="E0A243"/>
            </a:solidFill>
            <a:prstDash val="solid"/>
          </a:ln>
        </p:spPr>
      </p:sp>
      <p:sp>
        <p:nvSpPr>
          <p:cNvPr id="12" name="Text 9"/>
          <p:cNvSpPr txBox="1"/>
          <p:nvPr/>
        </p:nvSpPr>
        <p:spPr>
          <a:xfrm>
            <a:off x="6519672" y="2651760"/>
            <a:ext cx="457200" cy="457200"/>
          </a:xfrm>
          <a:prstGeom prst="rect">
            <a:avLst/>
          </a:prstGeom>
          <a:noFill/>
          <a:ln/>
        </p:spPr>
        <p:txBody>
          <a:bodyPr wrap="square" lIns="0" tIns="0" rIns="0" bIns="0" rtlCol="0" anchor="ctr"/>
          <a:lstStyle/>
          <a:p>
            <a:pPr marL="0" indent="0" algn="ctr">
              <a:buNone/>
            </a:pPr>
            <a:r>
              <a:rPr lang="en-US" sz="1600" b="1" dirty="0">
                <a:solidFill>
                  <a:srgbClr val="0A1F3D"/>
                </a:solidFill>
                <a:latin typeface="Cambria" pitchFamily="34" charset="0"/>
                <a:ea typeface="Cambria" pitchFamily="34" charset="-122"/>
                <a:cs typeface="Cambria" pitchFamily="34" charset="-120"/>
              </a:rPr>
              <a:t>1</a:t>
            </a:r>
            <a:endParaRPr lang="en-US" sz="1600" dirty="0"/>
          </a:p>
        </p:txBody>
      </p:sp>
      <p:sp>
        <p:nvSpPr>
          <p:cNvPr id="13" name="Text 10"/>
          <p:cNvSpPr txBox="1"/>
          <p:nvPr/>
        </p:nvSpPr>
        <p:spPr>
          <a:xfrm>
            <a:off x="7178040" y="2606040"/>
            <a:ext cx="420624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Classifier first</a:t>
            </a:r>
            <a:endParaRPr lang="en-US" sz="1600" dirty="0"/>
          </a:p>
        </p:txBody>
      </p:sp>
      <p:sp>
        <p:nvSpPr>
          <p:cNvPr id="14" name="Text 11"/>
          <p:cNvSpPr txBox="1"/>
          <p:nvPr/>
        </p:nvSpPr>
        <p:spPr>
          <a:xfrm>
            <a:off x="7178040" y="2926080"/>
            <a:ext cx="420624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scikit-learn tags domain and budget before any LLM call</a:t>
            </a:r>
            <a:endParaRPr lang="en-US" sz="1300" dirty="0"/>
          </a:p>
        </p:txBody>
      </p:sp>
      <p:sp>
        <p:nvSpPr>
          <p:cNvPr id="15" name="Shape 12"/>
          <p:cNvSpPr/>
          <p:nvPr/>
        </p:nvSpPr>
        <p:spPr>
          <a:xfrm>
            <a:off x="6519672" y="3520440"/>
            <a:ext cx="457200" cy="457200"/>
          </a:xfrm>
          <a:prstGeom prst="ellipse">
            <a:avLst/>
          </a:prstGeom>
          <a:solidFill>
            <a:srgbClr val="E0A243"/>
          </a:solidFill>
          <a:ln w="12700">
            <a:solidFill>
              <a:srgbClr val="E0A243"/>
            </a:solidFill>
            <a:prstDash val="solid"/>
          </a:ln>
        </p:spPr>
      </p:sp>
      <p:sp>
        <p:nvSpPr>
          <p:cNvPr id="16" name="Text 13"/>
          <p:cNvSpPr txBox="1"/>
          <p:nvPr/>
        </p:nvSpPr>
        <p:spPr>
          <a:xfrm>
            <a:off x="6519672" y="3520440"/>
            <a:ext cx="457200" cy="457200"/>
          </a:xfrm>
          <a:prstGeom prst="rect">
            <a:avLst/>
          </a:prstGeom>
          <a:noFill/>
          <a:ln/>
        </p:spPr>
        <p:txBody>
          <a:bodyPr wrap="square" lIns="0" tIns="0" rIns="0" bIns="0" rtlCol="0" anchor="ctr"/>
          <a:lstStyle/>
          <a:p>
            <a:pPr marL="0" indent="0" algn="ctr">
              <a:buNone/>
            </a:pPr>
            <a:r>
              <a:rPr lang="en-US" sz="1600" b="1" dirty="0">
                <a:solidFill>
                  <a:srgbClr val="0A1F3D"/>
                </a:solidFill>
                <a:latin typeface="Cambria" pitchFamily="34" charset="0"/>
                <a:ea typeface="Cambria" pitchFamily="34" charset="-122"/>
                <a:cs typeface="Cambria" pitchFamily="34" charset="-120"/>
              </a:rPr>
              <a:t>2</a:t>
            </a:r>
            <a:endParaRPr lang="en-US" sz="1600" dirty="0"/>
          </a:p>
        </p:txBody>
      </p:sp>
      <p:sp>
        <p:nvSpPr>
          <p:cNvPr id="17" name="Text 14"/>
          <p:cNvSpPr txBox="1"/>
          <p:nvPr/>
        </p:nvSpPr>
        <p:spPr>
          <a:xfrm>
            <a:off x="7178040" y="3474720"/>
            <a:ext cx="420624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Primary model</a:t>
            </a:r>
            <a:endParaRPr lang="en-US" sz="1600" dirty="0"/>
          </a:p>
        </p:txBody>
      </p:sp>
      <p:sp>
        <p:nvSpPr>
          <p:cNvPr id="18" name="Text 15"/>
          <p:cNvSpPr txBox="1"/>
          <p:nvPr/>
        </p:nvSpPr>
        <p:spPr>
          <a:xfrm>
            <a:off x="7178040" y="3794760"/>
            <a:ext cx="420624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Gemini generates each deliverable</a:t>
            </a:r>
            <a:endParaRPr lang="en-US" sz="1300" dirty="0"/>
          </a:p>
        </p:txBody>
      </p:sp>
      <p:sp>
        <p:nvSpPr>
          <p:cNvPr id="19" name="Shape 16"/>
          <p:cNvSpPr/>
          <p:nvPr/>
        </p:nvSpPr>
        <p:spPr>
          <a:xfrm>
            <a:off x="6519672" y="4389120"/>
            <a:ext cx="457200" cy="457200"/>
          </a:xfrm>
          <a:prstGeom prst="ellipse">
            <a:avLst/>
          </a:prstGeom>
          <a:solidFill>
            <a:srgbClr val="E0A243"/>
          </a:solidFill>
          <a:ln w="12700">
            <a:solidFill>
              <a:srgbClr val="E0A243"/>
            </a:solidFill>
            <a:prstDash val="solid"/>
          </a:ln>
        </p:spPr>
      </p:sp>
      <p:sp>
        <p:nvSpPr>
          <p:cNvPr id="20" name="Text 17"/>
          <p:cNvSpPr txBox="1"/>
          <p:nvPr/>
        </p:nvSpPr>
        <p:spPr>
          <a:xfrm>
            <a:off x="6519672" y="4389120"/>
            <a:ext cx="457200" cy="457200"/>
          </a:xfrm>
          <a:prstGeom prst="rect">
            <a:avLst/>
          </a:prstGeom>
          <a:noFill/>
          <a:ln/>
        </p:spPr>
        <p:txBody>
          <a:bodyPr wrap="square" lIns="0" tIns="0" rIns="0" bIns="0" rtlCol="0" anchor="ctr"/>
          <a:lstStyle/>
          <a:p>
            <a:pPr marL="0" indent="0" algn="ctr">
              <a:buNone/>
            </a:pPr>
            <a:r>
              <a:rPr lang="en-US" sz="1600" b="1" dirty="0">
                <a:solidFill>
                  <a:srgbClr val="0A1F3D"/>
                </a:solidFill>
                <a:latin typeface="Cambria" pitchFamily="34" charset="0"/>
                <a:ea typeface="Cambria" pitchFamily="34" charset="-122"/>
                <a:cs typeface="Cambria" pitchFamily="34" charset="-120"/>
              </a:rPr>
              <a:t>3</a:t>
            </a:r>
            <a:endParaRPr lang="en-US" sz="1600" dirty="0"/>
          </a:p>
        </p:txBody>
      </p:sp>
      <p:sp>
        <p:nvSpPr>
          <p:cNvPr id="21" name="Text 18"/>
          <p:cNvSpPr txBox="1"/>
          <p:nvPr/>
        </p:nvSpPr>
        <p:spPr>
          <a:xfrm>
            <a:off x="7178040" y="4343400"/>
            <a:ext cx="420624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Backup model</a:t>
            </a:r>
            <a:endParaRPr lang="en-US" sz="1600" dirty="0"/>
          </a:p>
        </p:txBody>
      </p:sp>
      <p:sp>
        <p:nvSpPr>
          <p:cNvPr id="22" name="Text 19"/>
          <p:cNvSpPr txBox="1"/>
          <p:nvPr/>
        </p:nvSpPr>
        <p:spPr>
          <a:xfrm>
            <a:off x="7178040" y="4663440"/>
            <a:ext cx="420624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Automatic retry, then OpenAI as the fallback provider</a:t>
            </a:r>
            <a:endParaRPr lang="en-US" sz="1300" dirty="0"/>
          </a:p>
        </p:txBody>
      </p:sp>
      <p:sp>
        <p:nvSpPr>
          <p:cNvPr id="23" name="Shape 20"/>
          <p:cNvSpPr/>
          <p:nvPr/>
        </p:nvSpPr>
        <p:spPr>
          <a:xfrm>
            <a:off x="6519672" y="5257800"/>
            <a:ext cx="457200" cy="457200"/>
          </a:xfrm>
          <a:prstGeom prst="ellipse">
            <a:avLst/>
          </a:prstGeom>
          <a:solidFill>
            <a:srgbClr val="E0A243"/>
          </a:solidFill>
          <a:ln w="12700">
            <a:solidFill>
              <a:srgbClr val="E0A243"/>
            </a:solidFill>
            <a:prstDash val="solid"/>
          </a:ln>
        </p:spPr>
      </p:sp>
      <p:sp>
        <p:nvSpPr>
          <p:cNvPr id="24" name="Text 21"/>
          <p:cNvSpPr txBox="1"/>
          <p:nvPr/>
        </p:nvSpPr>
        <p:spPr>
          <a:xfrm>
            <a:off x="6519672" y="5257800"/>
            <a:ext cx="457200" cy="457200"/>
          </a:xfrm>
          <a:prstGeom prst="rect">
            <a:avLst/>
          </a:prstGeom>
          <a:noFill/>
          <a:ln/>
        </p:spPr>
        <p:txBody>
          <a:bodyPr wrap="square" lIns="0" tIns="0" rIns="0" bIns="0" rtlCol="0" anchor="ctr"/>
          <a:lstStyle/>
          <a:p>
            <a:pPr marL="0" indent="0" algn="ctr">
              <a:buNone/>
            </a:pPr>
            <a:r>
              <a:rPr lang="en-US" sz="1600" b="1" dirty="0">
                <a:solidFill>
                  <a:srgbClr val="0A1F3D"/>
                </a:solidFill>
                <a:latin typeface="Cambria" pitchFamily="34" charset="0"/>
                <a:ea typeface="Cambria" pitchFamily="34" charset="-122"/>
                <a:cs typeface="Cambria" pitchFamily="34" charset="-120"/>
              </a:rPr>
              <a:t>4</a:t>
            </a:r>
            <a:endParaRPr lang="en-US" sz="1600" dirty="0"/>
          </a:p>
        </p:txBody>
      </p:sp>
      <p:sp>
        <p:nvSpPr>
          <p:cNvPr id="25" name="Text 22"/>
          <p:cNvSpPr txBox="1"/>
          <p:nvPr/>
        </p:nvSpPr>
        <p:spPr>
          <a:xfrm>
            <a:off x="7178040" y="5212080"/>
            <a:ext cx="420624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Offline fallback</a:t>
            </a:r>
            <a:endParaRPr lang="en-US" sz="1600" dirty="0"/>
          </a:p>
        </p:txBody>
      </p:sp>
      <p:sp>
        <p:nvSpPr>
          <p:cNvPr id="26" name="Text 23"/>
          <p:cNvSpPr txBox="1"/>
          <p:nvPr/>
        </p:nvSpPr>
        <p:spPr>
          <a:xfrm>
            <a:off x="7178040" y="5532120"/>
            <a:ext cx="420624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Local dataset engine, so the user never sees a broken screen</a:t>
            </a:r>
            <a:endParaRPr lang="en-US" sz="1300" dirty="0"/>
          </a:p>
        </p:txBody>
      </p:sp>
      <p:sp>
        <p:nvSpPr>
          <p:cNvPr id="27" name="Text 24"/>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B9C7DD"/>
                </a:solidFill>
                <a:latin typeface="Calibri" pitchFamily="34" charset="0"/>
                <a:ea typeface="Calibri" pitchFamily="34" charset="-122"/>
                <a:cs typeface="Calibri" pitchFamily="34" charset="-120"/>
              </a:rPr>
              <a:t>Compile  ·  Blueprint AI  ·  Chaos2Commit 2026</a:t>
            </a:r>
            <a:endParaRPr lang="en-US" sz="1000" dirty="0"/>
          </a:p>
        </p:txBody>
      </p:sp>
      <p:sp>
        <p:nvSpPr>
          <p:cNvPr id="28" name="Text 25"/>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B9C7D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Business Model and Value</a:t>
            </a:r>
            <a:endParaRPr lang="en-US" sz="3800" dirty="0"/>
          </a:p>
        </p:txBody>
      </p:sp>
      <p:sp>
        <p:nvSpPr>
          <p:cNvPr id="3" name="Text 1"/>
          <p:cNvSpPr txBox="1"/>
          <p:nvPr/>
        </p:nvSpPr>
        <p:spPr>
          <a:xfrm>
            <a:off x="548640" y="1280160"/>
            <a:ext cx="5943600" cy="411480"/>
          </a:xfrm>
          <a:prstGeom prst="rect">
            <a:avLst/>
          </a:prstGeom>
          <a:noFill/>
          <a:ln/>
        </p:spPr>
        <p:txBody>
          <a:bodyPr wrap="square" lIns="0" tIns="0" rIns="0" bIns="0" rtlCol="0" anchor="ctr"/>
          <a:lstStyle/>
          <a:p>
            <a:pPr marL="0" indent="0">
              <a:buNone/>
            </a:pPr>
            <a:r>
              <a:rPr lang="en-US" sz="2200" b="1" dirty="0">
                <a:solidFill>
                  <a:srgbClr val="0A1F3D"/>
                </a:solidFill>
                <a:latin typeface="Cambria" pitchFamily="34" charset="0"/>
                <a:ea typeface="Cambria" pitchFamily="34" charset="-122"/>
                <a:cs typeface="Cambria" pitchFamily="34" charset="-120"/>
              </a:rPr>
              <a:t>How it makes money</a:t>
            </a:r>
            <a:endParaRPr lang="en-US" sz="2200" dirty="0"/>
          </a:p>
        </p:txBody>
      </p:sp>
      <p:sp>
        <p:nvSpPr>
          <p:cNvPr id="4" name="Shape 2"/>
          <p:cNvSpPr/>
          <p:nvPr/>
        </p:nvSpPr>
        <p:spPr>
          <a:xfrm>
            <a:off x="548640" y="1874520"/>
            <a:ext cx="6309360" cy="123444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5" name="Shape 3"/>
          <p:cNvSpPr/>
          <p:nvPr/>
        </p:nvSpPr>
        <p:spPr>
          <a:xfrm>
            <a:off x="822960" y="2148840"/>
            <a:ext cx="685800" cy="685800"/>
          </a:xfrm>
          <a:prstGeom prst="ellipse">
            <a:avLst/>
          </a:prstGeom>
          <a:solidFill>
            <a:srgbClr val="0A1F3D"/>
          </a:solidFill>
          <a:ln w="12700">
            <a:solidFill>
              <a:srgbClr val="0A1F3D"/>
            </a:solidFill>
            <a:prstDash val="solid"/>
          </a:ln>
        </p:spPr>
      </p:sp>
      <p:pic>
        <p:nvPicPr>
          <p:cNvPr id="6" name="Image 0" descr="preencoded.png"/>
          <p:cNvPicPr>
            <a:picLocks noChangeAspect="1"/>
          </p:cNvPicPr>
          <p:nvPr/>
        </p:nvPicPr>
        <p:blipFill>
          <a:blip r:embed="rId3"/>
          <a:stretch>
            <a:fillRect/>
          </a:stretch>
        </p:blipFill>
        <p:spPr>
          <a:xfrm>
            <a:off x="994410" y="2320290"/>
            <a:ext cx="342900" cy="342900"/>
          </a:xfrm>
          <a:prstGeom prst="rect">
            <a:avLst/>
          </a:prstGeom>
        </p:spPr>
      </p:pic>
      <p:sp>
        <p:nvSpPr>
          <p:cNvPr id="7" name="Text 4"/>
          <p:cNvSpPr txBox="1"/>
          <p:nvPr/>
        </p:nvSpPr>
        <p:spPr>
          <a:xfrm>
            <a:off x="1783080" y="2011680"/>
            <a:ext cx="4846320" cy="365760"/>
          </a:xfrm>
          <a:prstGeom prst="rect">
            <a:avLst/>
          </a:prstGeom>
          <a:noFill/>
          <a:ln/>
        </p:spPr>
        <p:txBody>
          <a:bodyPr wrap="square" lIns="0" tIns="0" rIns="0" bIns="0" rtlCol="0" anchor="ctr"/>
          <a:lstStyle/>
          <a:p>
            <a:pPr marL="0" indent="0">
              <a:buNone/>
            </a:pPr>
            <a:r>
              <a:rPr lang="en-US" sz="1800" b="1" dirty="0">
                <a:solidFill>
                  <a:srgbClr val="0A1F3D"/>
                </a:solidFill>
                <a:latin typeface="Cambria" pitchFamily="34" charset="0"/>
                <a:ea typeface="Cambria" pitchFamily="34" charset="-122"/>
                <a:cs typeface="Cambria" pitchFamily="34" charset="-120"/>
              </a:rPr>
              <a:t>Subscription</a:t>
            </a:r>
            <a:endParaRPr lang="en-US" sz="1800" dirty="0"/>
          </a:p>
        </p:txBody>
      </p:sp>
      <p:sp>
        <p:nvSpPr>
          <p:cNvPr id="8" name="Text 5"/>
          <p:cNvSpPr txBox="1"/>
          <p:nvPr/>
        </p:nvSpPr>
        <p:spPr>
          <a:xfrm>
            <a:off x="1783080" y="2404872"/>
            <a:ext cx="484632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Tiered by organization size, from small teams to consulting firms running discovery continuously.</a:t>
            </a:r>
            <a:endParaRPr lang="en-US" sz="1400" dirty="0"/>
          </a:p>
        </p:txBody>
      </p:sp>
      <p:sp>
        <p:nvSpPr>
          <p:cNvPr id="9" name="Shape 6"/>
          <p:cNvSpPr/>
          <p:nvPr/>
        </p:nvSpPr>
        <p:spPr>
          <a:xfrm>
            <a:off x="548640" y="3291840"/>
            <a:ext cx="6309360" cy="123444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0" name="Shape 7"/>
          <p:cNvSpPr/>
          <p:nvPr/>
        </p:nvSpPr>
        <p:spPr>
          <a:xfrm>
            <a:off x="822960" y="3566160"/>
            <a:ext cx="685800" cy="685800"/>
          </a:xfrm>
          <a:prstGeom prst="ellipse">
            <a:avLst/>
          </a:prstGeom>
          <a:solidFill>
            <a:srgbClr val="0A1F3D"/>
          </a:solidFill>
          <a:ln w="12700">
            <a:solidFill>
              <a:srgbClr val="0A1F3D"/>
            </a:solidFill>
            <a:prstDash val="solid"/>
          </a:ln>
        </p:spPr>
      </p:sp>
      <p:pic>
        <p:nvPicPr>
          <p:cNvPr id="11" name="Image 1" descr="preencoded.png"/>
          <p:cNvPicPr>
            <a:picLocks noChangeAspect="1"/>
          </p:cNvPicPr>
          <p:nvPr/>
        </p:nvPicPr>
        <p:blipFill>
          <a:blip r:embed="rId4"/>
          <a:stretch>
            <a:fillRect/>
          </a:stretch>
        </p:blipFill>
        <p:spPr>
          <a:xfrm>
            <a:off x="994410" y="3737610"/>
            <a:ext cx="342900" cy="342900"/>
          </a:xfrm>
          <a:prstGeom prst="rect">
            <a:avLst/>
          </a:prstGeom>
        </p:spPr>
      </p:pic>
      <p:sp>
        <p:nvSpPr>
          <p:cNvPr id="12" name="Text 8"/>
          <p:cNvSpPr txBox="1"/>
          <p:nvPr/>
        </p:nvSpPr>
        <p:spPr>
          <a:xfrm>
            <a:off x="1783080" y="3429000"/>
            <a:ext cx="4846320" cy="365760"/>
          </a:xfrm>
          <a:prstGeom prst="rect">
            <a:avLst/>
          </a:prstGeom>
          <a:noFill/>
          <a:ln/>
        </p:spPr>
        <p:txBody>
          <a:bodyPr wrap="square" lIns="0" tIns="0" rIns="0" bIns="0" rtlCol="0" anchor="ctr"/>
          <a:lstStyle/>
          <a:p>
            <a:pPr marL="0" indent="0">
              <a:buNone/>
            </a:pPr>
            <a:r>
              <a:rPr lang="en-US" sz="1800" b="1" dirty="0">
                <a:solidFill>
                  <a:srgbClr val="0A1F3D"/>
                </a:solidFill>
                <a:latin typeface="Cambria" pitchFamily="34" charset="0"/>
                <a:ea typeface="Cambria" pitchFamily="34" charset="-122"/>
                <a:cs typeface="Cambria" pitchFamily="34" charset="-120"/>
              </a:rPr>
              <a:t>Usage-based</a:t>
            </a:r>
            <a:endParaRPr lang="en-US" sz="1800" dirty="0"/>
          </a:p>
        </p:txBody>
      </p:sp>
      <p:sp>
        <p:nvSpPr>
          <p:cNvPr id="13" name="Text 9"/>
          <p:cNvSpPr txBox="1"/>
          <p:nvPr/>
        </p:nvSpPr>
        <p:spPr>
          <a:xfrm>
            <a:off x="1783080" y="3822192"/>
            <a:ext cx="484632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Charged per blueprint or discovery session, scaling with delivered value.</a:t>
            </a:r>
            <a:endParaRPr lang="en-US" sz="1400" dirty="0"/>
          </a:p>
        </p:txBody>
      </p:sp>
      <p:sp>
        <p:nvSpPr>
          <p:cNvPr id="14" name="Shape 10"/>
          <p:cNvSpPr/>
          <p:nvPr/>
        </p:nvSpPr>
        <p:spPr>
          <a:xfrm>
            <a:off x="548640" y="4709160"/>
            <a:ext cx="6309360" cy="123444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5" name="Shape 11"/>
          <p:cNvSpPr/>
          <p:nvPr/>
        </p:nvSpPr>
        <p:spPr>
          <a:xfrm>
            <a:off x="822960" y="4983480"/>
            <a:ext cx="685800" cy="685800"/>
          </a:xfrm>
          <a:prstGeom prst="ellipse">
            <a:avLst/>
          </a:prstGeom>
          <a:solidFill>
            <a:srgbClr val="0A1F3D"/>
          </a:solidFill>
          <a:ln w="12700">
            <a:solidFill>
              <a:srgbClr val="0A1F3D"/>
            </a:solidFill>
            <a:prstDash val="solid"/>
          </a:ln>
        </p:spPr>
      </p:sp>
      <p:pic>
        <p:nvPicPr>
          <p:cNvPr id="16" name="Image 2" descr="preencoded.png"/>
          <p:cNvPicPr>
            <a:picLocks noChangeAspect="1"/>
          </p:cNvPicPr>
          <p:nvPr/>
        </p:nvPicPr>
        <p:blipFill>
          <a:blip r:embed="rId5"/>
          <a:stretch>
            <a:fillRect/>
          </a:stretch>
        </p:blipFill>
        <p:spPr>
          <a:xfrm>
            <a:off x="994410" y="5154930"/>
            <a:ext cx="342900" cy="342900"/>
          </a:xfrm>
          <a:prstGeom prst="rect">
            <a:avLst/>
          </a:prstGeom>
        </p:spPr>
      </p:pic>
      <p:sp>
        <p:nvSpPr>
          <p:cNvPr id="17" name="Text 12"/>
          <p:cNvSpPr txBox="1"/>
          <p:nvPr/>
        </p:nvSpPr>
        <p:spPr>
          <a:xfrm>
            <a:off x="1783080" y="4846320"/>
            <a:ext cx="4846320" cy="365760"/>
          </a:xfrm>
          <a:prstGeom prst="rect">
            <a:avLst/>
          </a:prstGeom>
          <a:noFill/>
          <a:ln/>
        </p:spPr>
        <p:txBody>
          <a:bodyPr wrap="square" lIns="0" tIns="0" rIns="0" bIns="0" rtlCol="0" anchor="ctr"/>
          <a:lstStyle/>
          <a:p>
            <a:pPr marL="0" indent="0">
              <a:buNone/>
            </a:pPr>
            <a:r>
              <a:rPr lang="en-US" sz="1800" b="1" dirty="0">
                <a:solidFill>
                  <a:srgbClr val="0A1F3D"/>
                </a:solidFill>
                <a:latin typeface="Cambria" pitchFamily="34" charset="0"/>
                <a:ea typeface="Cambria" pitchFamily="34" charset="-122"/>
                <a:cs typeface="Cambria" pitchFamily="34" charset="-120"/>
              </a:rPr>
              <a:t>Enterprise license</a:t>
            </a:r>
            <a:endParaRPr lang="en-US" sz="1800" dirty="0"/>
          </a:p>
        </p:txBody>
      </p:sp>
      <p:sp>
        <p:nvSpPr>
          <p:cNvPr id="18" name="Text 13"/>
          <p:cNvSpPr txBox="1"/>
          <p:nvPr/>
        </p:nvSpPr>
        <p:spPr>
          <a:xfrm>
            <a:off x="1783080" y="5239512"/>
            <a:ext cx="484632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White-label for firms like Futurrizon to speed up their own client discovery.</a:t>
            </a:r>
            <a:endParaRPr lang="en-US" sz="1400" dirty="0"/>
          </a:p>
        </p:txBody>
      </p:sp>
      <p:sp>
        <p:nvSpPr>
          <p:cNvPr id="19" name="Shape 14"/>
          <p:cNvSpPr/>
          <p:nvPr/>
        </p:nvSpPr>
        <p:spPr>
          <a:xfrm>
            <a:off x="7178040" y="1280160"/>
            <a:ext cx="4480560" cy="4846320"/>
          </a:xfrm>
          <a:prstGeom prst="rect">
            <a:avLst/>
          </a:prstGeom>
          <a:solidFill>
            <a:srgbClr val="0A1F3D"/>
          </a:solidFill>
          <a:ln w="12700">
            <a:solidFill>
              <a:srgbClr val="0A1F3D"/>
            </a:solidFill>
            <a:prstDash val="solid"/>
          </a:ln>
        </p:spPr>
      </p:sp>
      <p:sp>
        <p:nvSpPr>
          <p:cNvPr id="20" name="Shape 15"/>
          <p:cNvSpPr/>
          <p:nvPr/>
        </p:nvSpPr>
        <p:spPr>
          <a:xfrm>
            <a:off x="7178040" y="1280160"/>
            <a:ext cx="228600" cy="27432"/>
          </a:xfrm>
          <a:prstGeom prst="rect">
            <a:avLst/>
          </a:prstGeom>
          <a:solidFill>
            <a:srgbClr val="E0A243"/>
          </a:solidFill>
          <a:ln w="12700">
            <a:solidFill>
              <a:srgbClr val="E0A243"/>
            </a:solidFill>
            <a:prstDash val="solid"/>
          </a:ln>
        </p:spPr>
      </p:sp>
      <p:sp>
        <p:nvSpPr>
          <p:cNvPr id="21" name="Shape 16"/>
          <p:cNvSpPr/>
          <p:nvPr/>
        </p:nvSpPr>
        <p:spPr>
          <a:xfrm>
            <a:off x="7178040" y="1280160"/>
            <a:ext cx="27432" cy="228600"/>
          </a:xfrm>
          <a:prstGeom prst="rect">
            <a:avLst/>
          </a:prstGeom>
          <a:solidFill>
            <a:srgbClr val="E0A243"/>
          </a:solidFill>
          <a:ln w="12700">
            <a:solidFill>
              <a:srgbClr val="E0A243"/>
            </a:solidFill>
            <a:prstDash val="solid"/>
          </a:ln>
        </p:spPr>
      </p:sp>
      <p:sp>
        <p:nvSpPr>
          <p:cNvPr id="22" name="Shape 17"/>
          <p:cNvSpPr/>
          <p:nvPr/>
        </p:nvSpPr>
        <p:spPr>
          <a:xfrm>
            <a:off x="11430000" y="1280160"/>
            <a:ext cx="228600" cy="27432"/>
          </a:xfrm>
          <a:prstGeom prst="rect">
            <a:avLst/>
          </a:prstGeom>
          <a:solidFill>
            <a:srgbClr val="E0A243"/>
          </a:solidFill>
          <a:ln w="12700">
            <a:solidFill>
              <a:srgbClr val="E0A243"/>
            </a:solidFill>
            <a:prstDash val="solid"/>
          </a:ln>
        </p:spPr>
      </p:sp>
      <p:sp>
        <p:nvSpPr>
          <p:cNvPr id="23" name="Shape 18"/>
          <p:cNvSpPr/>
          <p:nvPr/>
        </p:nvSpPr>
        <p:spPr>
          <a:xfrm>
            <a:off x="11631168" y="1280160"/>
            <a:ext cx="27432" cy="228600"/>
          </a:xfrm>
          <a:prstGeom prst="rect">
            <a:avLst/>
          </a:prstGeom>
          <a:solidFill>
            <a:srgbClr val="E0A243"/>
          </a:solidFill>
          <a:ln w="12700">
            <a:solidFill>
              <a:srgbClr val="E0A243"/>
            </a:solidFill>
            <a:prstDash val="solid"/>
          </a:ln>
        </p:spPr>
      </p:sp>
      <p:sp>
        <p:nvSpPr>
          <p:cNvPr id="24" name="Shape 19"/>
          <p:cNvSpPr/>
          <p:nvPr/>
        </p:nvSpPr>
        <p:spPr>
          <a:xfrm>
            <a:off x="7178040" y="6099048"/>
            <a:ext cx="228600" cy="27432"/>
          </a:xfrm>
          <a:prstGeom prst="rect">
            <a:avLst/>
          </a:prstGeom>
          <a:solidFill>
            <a:srgbClr val="E0A243"/>
          </a:solidFill>
          <a:ln w="12700">
            <a:solidFill>
              <a:srgbClr val="E0A243"/>
            </a:solidFill>
            <a:prstDash val="solid"/>
          </a:ln>
        </p:spPr>
      </p:sp>
      <p:sp>
        <p:nvSpPr>
          <p:cNvPr id="25" name="Shape 20"/>
          <p:cNvSpPr/>
          <p:nvPr/>
        </p:nvSpPr>
        <p:spPr>
          <a:xfrm>
            <a:off x="7178040" y="5897880"/>
            <a:ext cx="27432" cy="228600"/>
          </a:xfrm>
          <a:prstGeom prst="rect">
            <a:avLst/>
          </a:prstGeom>
          <a:solidFill>
            <a:srgbClr val="E0A243"/>
          </a:solidFill>
          <a:ln w="12700">
            <a:solidFill>
              <a:srgbClr val="E0A243"/>
            </a:solidFill>
            <a:prstDash val="solid"/>
          </a:ln>
        </p:spPr>
      </p:sp>
      <p:sp>
        <p:nvSpPr>
          <p:cNvPr id="26" name="Shape 21"/>
          <p:cNvSpPr/>
          <p:nvPr/>
        </p:nvSpPr>
        <p:spPr>
          <a:xfrm>
            <a:off x="11430000" y="6099048"/>
            <a:ext cx="228600" cy="27432"/>
          </a:xfrm>
          <a:prstGeom prst="rect">
            <a:avLst/>
          </a:prstGeom>
          <a:solidFill>
            <a:srgbClr val="E0A243"/>
          </a:solidFill>
          <a:ln w="12700">
            <a:solidFill>
              <a:srgbClr val="E0A243"/>
            </a:solidFill>
            <a:prstDash val="solid"/>
          </a:ln>
        </p:spPr>
      </p:sp>
      <p:sp>
        <p:nvSpPr>
          <p:cNvPr id="27" name="Shape 22"/>
          <p:cNvSpPr/>
          <p:nvPr/>
        </p:nvSpPr>
        <p:spPr>
          <a:xfrm>
            <a:off x="11631168" y="5897880"/>
            <a:ext cx="27432" cy="228600"/>
          </a:xfrm>
          <a:prstGeom prst="rect">
            <a:avLst/>
          </a:prstGeom>
          <a:solidFill>
            <a:srgbClr val="E0A243"/>
          </a:solidFill>
          <a:ln w="12700">
            <a:solidFill>
              <a:srgbClr val="E0A243"/>
            </a:solidFill>
            <a:prstDash val="solid"/>
          </a:ln>
        </p:spPr>
      </p:sp>
      <p:sp>
        <p:nvSpPr>
          <p:cNvPr id="28" name="Text 23"/>
          <p:cNvSpPr txBox="1"/>
          <p:nvPr/>
        </p:nvSpPr>
        <p:spPr>
          <a:xfrm>
            <a:off x="7543800" y="1554480"/>
            <a:ext cx="3840480" cy="4114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Business value</a:t>
            </a:r>
            <a:endParaRPr lang="en-US" sz="2200" dirty="0"/>
          </a:p>
        </p:txBody>
      </p:sp>
      <p:sp>
        <p:nvSpPr>
          <p:cNvPr id="29" name="Text 24"/>
          <p:cNvSpPr txBox="1"/>
          <p:nvPr/>
        </p:nvSpPr>
        <p:spPr>
          <a:xfrm>
            <a:off x="7543800" y="2194560"/>
            <a:ext cx="3931920" cy="640080"/>
          </a:xfrm>
          <a:prstGeom prst="rect">
            <a:avLst/>
          </a:prstGeom>
          <a:noFill/>
          <a:ln/>
        </p:spPr>
        <p:txBody>
          <a:bodyPr wrap="square" lIns="0" tIns="0" rIns="0" bIns="0" rtlCol="0" anchor="ctr"/>
          <a:lstStyle/>
          <a:p>
            <a:pPr marL="0" indent="0">
              <a:buNone/>
            </a:pPr>
            <a:r>
              <a:rPr lang="en-US" sz="3400" b="1" dirty="0">
                <a:solidFill>
                  <a:srgbClr val="E0A243"/>
                </a:solidFill>
                <a:latin typeface="Cambria" pitchFamily="34" charset="0"/>
                <a:ea typeface="Cambria" pitchFamily="34" charset="-122"/>
                <a:cs typeface="Cambria" pitchFamily="34" charset="-120"/>
              </a:rPr>
              <a:t>Weeks → Minutes</a:t>
            </a:r>
            <a:endParaRPr lang="en-US" sz="3400" dirty="0"/>
          </a:p>
        </p:txBody>
      </p:sp>
      <p:sp>
        <p:nvSpPr>
          <p:cNvPr id="30" name="Text 25"/>
          <p:cNvSpPr txBox="1"/>
          <p:nvPr/>
        </p:nvSpPr>
        <p:spPr>
          <a:xfrm>
            <a:off x="7543800" y="2834640"/>
            <a:ext cx="3931920" cy="365760"/>
          </a:xfrm>
          <a:prstGeom prst="rect">
            <a:avLst/>
          </a:prstGeom>
          <a:noFill/>
          <a:ln/>
        </p:spPr>
        <p:txBody>
          <a:bodyPr wrap="square" lIns="0" tIns="0" rIns="0" bIns="0" rtlCol="0" anchor="ctr"/>
          <a:lstStyle/>
          <a:p>
            <a:pPr marL="0" indent="0">
              <a:buNone/>
            </a:pPr>
            <a:r>
              <a:rPr lang="en-US" sz="1400" dirty="0">
                <a:solidFill>
                  <a:srgbClr val="B9C7DD"/>
                </a:solidFill>
                <a:latin typeface="Calibri" pitchFamily="34" charset="0"/>
                <a:ea typeface="Calibri" pitchFamily="34" charset="-122"/>
                <a:cs typeface="Calibri" pitchFamily="34" charset="-120"/>
              </a:rPr>
              <a:t>From idea to first solution blueprint</a:t>
            </a:r>
            <a:endParaRPr lang="en-US" sz="1400" dirty="0"/>
          </a:p>
        </p:txBody>
      </p:sp>
      <p:sp>
        <p:nvSpPr>
          <p:cNvPr id="31" name="Text 26"/>
          <p:cNvSpPr txBox="1"/>
          <p:nvPr/>
        </p:nvSpPr>
        <p:spPr>
          <a:xfrm>
            <a:off x="7543800" y="3474720"/>
            <a:ext cx="3931920" cy="640080"/>
          </a:xfrm>
          <a:prstGeom prst="rect">
            <a:avLst/>
          </a:prstGeom>
          <a:noFill/>
          <a:ln/>
        </p:spPr>
        <p:txBody>
          <a:bodyPr wrap="square" lIns="0" tIns="0" rIns="0" bIns="0" rtlCol="0" anchor="ctr"/>
          <a:lstStyle/>
          <a:p>
            <a:pPr marL="0" indent="0">
              <a:buNone/>
            </a:pPr>
            <a:r>
              <a:rPr lang="en-US" sz="3400" b="1" dirty="0">
                <a:solidFill>
                  <a:srgbClr val="E0A243"/>
                </a:solidFill>
                <a:latin typeface="Cambria" pitchFamily="34" charset="0"/>
                <a:ea typeface="Cambria" pitchFamily="34" charset="-122"/>
                <a:cs typeface="Cambria" pitchFamily="34" charset="-120"/>
              </a:rPr>
              <a:t>6</a:t>
            </a:r>
            <a:endParaRPr lang="en-US" sz="3400" dirty="0"/>
          </a:p>
        </p:txBody>
      </p:sp>
      <p:sp>
        <p:nvSpPr>
          <p:cNvPr id="32" name="Text 27"/>
          <p:cNvSpPr txBox="1"/>
          <p:nvPr/>
        </p:nvSpPr>
        <p:spPr>
          <a:xfrm>
            <a:off x="7543800" y="4114800"/>
            <a:ext cx="3931920" cy="365760"/>
          </a:xfrm>
          <a:prstGeom prst="rect">
            <a:avLst/>
          </a:prstGeom>
          <a:noFill/>
          <a:ln/>
        </p:spPr>
        <p:txBody>
          <a:bodyPr wrap="square" lIns="0" tIns="0" rIns="0" bIns="0" rtlCol="0" anchor="ctr"/>
          <a:lstStyle/>
          <a:p>
            <a:pPr marL="0" indent="0">
              <a:buNone/>
            </a:pPr>
            <a:r>
              <a:rPr lang="en-US" sz="1400" dirty="0">
                <a:solidFill>
                  <a:srgbClr val="B9C7DD"/>
                </a:solidFill>
                <a:latin typeface="Calibri" pitchFamily="34" charset="0"/>
                <a:ea typeface="Calibri" pitchFamily="34" charset="-122"/>
                <a:cs typeface="Calibri" pitchFamily="34" charset="-120"/>
              </a:rPr>
              <a:t>Linked deliverables from one conversation</a:t>
            </a:r>
            <a:endParaRPr lang="en-US" sz="1400" dirty="0"/>
          </a:p>
        </p:txBody>
      </p:sp>
      <p:sp>
        <p:nvSpPr>
          <p:cNvPr id="33" name="Text 28"/>
          <p:cNvSpPr txBox="1"/>
          <p:nvPr/>
        </p:nvSpPr>
        <p:spPr>
          <a:xfrm>
            <a:off x="7543800" y="4754880"/>
            <a:ext cx="3931920" cy="640080"/>
          </a:xfrm>
          <a:prstGeom prst="rect">
            <a:avLst/>
          </a:prstGeom>
          <a:noFill/>
          <a:ln/>
        </p:spPr>
        <p:txBody>
          <a:bodyPr wrap="square" lIns="0" tIns="0" rIns="0" bIns="0" rtlCol="0" anchor="ctr"/>
          <a:lstStyle/>
          <a:p>
            <a:pPr marL="0" indent="0">
              <a:buNone/>
            </a:pPr>
            <a:r>
              <a:rPr lang="en-US" sz="3400" b="1" dirty="0">
                <a:solidFill>
                  <a:srgbClr val="E0A243"/>
                </a:solidFill>
                <a:latin typeface="Cambria" pitchFamily="34" charset="0"/>
                <a:ea typeface="Cambria" pitchFamily="34" charset="-122"/>
                <a:cs typeface="Cambria" pitchFamily="34" charset="-120"/>
              </a:rPr>
              <a:t>1</a:t>
            </a:r>
            <a:endParaRPr lang="en-US" sz="3400" dirty="0"/>
          </a:p>
        </p:txBody>
      </p:sp>
      <p:sp>
        <p:nvSpPr>
          <p:cNvPr id="34" name="Text 29"/>
          <p:cNvSpPr txBox="1"/>
          <p:nvPr/>
        </p:nvSpPr>
        <p:spPr>
          <a:xfrm>
            <a:off x="7543800" y="5394960"/>
            <a:ext cx="3931920" cy="365760"/>
          </a:xfrm>
          <a:prstGeom prst="rect">
            <a:avLst/>
          </a:prstGeom>
          <a:noFill/>
          <a:ln/>
        </p:spPr>
        <p:txBody>
          <a:bodyPr wrap="square" lIns="0" tIns="0" rIns="0" bIns="0" rtlCol="0" anchor="ctr"/>
          <a:lstStyle/>
          <a:p>
            <a:pPr marL="0" indent="0">
              <a:buNone/>
            </a:pPr>
            <a:r>
              <a:rPr lang="en-US" sz="1400" dirty="0">
                <a:solidFill>
                  <a:srgbClr val="B9C7DD"/>
                </a:solidFill>
                <a:latin typeface="Calibri" pitchFamily="34" charset="0"/>
                <a:ea typeface="Calibri" pitchFamily="34" charset="-122"/>
                <a:cs typeface="Calibri" pitchFamily="34" charset="-120"/>
              </a:rPr>
              <a:t>Shared source of truth for business and tech</a:t>
            </a:r>
            <a:endParaRPr lang="en-US" sz="1400" dirty="0"/>
          </a:p>
        </p:txBody>
      </p:sp>
      <p:sp>
        <p:nvSpPr>
          <p:cNvPr id="35" name="Text 3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36" name="Text 31"/>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From Documentation to Deployment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The blueprint becomes the starting point for building.</a:t>
            </a:r>
            <a:endParaRPr lang="en-US" sz="1800" dirty="0"/>
          </a:p>
        </p:txBody>
      </p:sp>
      <p:sp>
        <p:nvSpPr>
          <p:cNvPr id="4" name="Shape 2"/>
          <p:cNvSpPr/>
          <p:nvPr/>
        </p:nvSpPr>
        <p:spPr>
          <a:xfrm>
            <a:off x="868680" y="1965960"/>
            <a:ext cx="731520" cy="731520"/>
          </a:xfrm>
          <a:prstGeom prst="ellipse">
            <a:avLst/>
          </a:prstGeom>
          <a:solidFill>
            <a:srgbClr val="0A1F3D"/>
          </a:solidFill>
          <a:ln w="12700">
            <a:solidFill>
              <a:srgbClr val="0A1F3D"/>
            </a:solidFill>
            <a:prstDash val="solid"/>
          </a:ln>
        </p:spPr>
      </p:sp>
      <p:pic>
        <p:nvPicPr>
          <p:cNvPr id="5" name="Image 0" descr="preencoded.png"/>
          <p:cNvPicPr>
            <a:picLocks noChangeAspect="1"/>
          </p:cNvPicPr>
          <p:nvPr/>
        </p:nvPicPr>
        <p:blipFill>
          <a:blip r:embed="rId3"/>
          <a:stretch>
            <a:fillRect/>
          </a:stretch>
        </p:blipFill>
        <p:spPr>
          <a:xfrm>
            <a:off x="1051560" y="2148840"/>
            <a:ext cx="365760" cy="365760"/>
          </a:xfrm>
          <a:prstGeom prst="rect">
            <a:avLst/>
          </a:prstGeom>
        </p:spPr>
      </p:pic>
      <p:sp>
        <p:nvSpPr>
          <p:cNvPr id="6" name="Text 3"/>
          <p:cNvSpPr txBox="1"/>
          <p:nvPr/>
        </p:nvSpPr>
        <p:spPr>
          <a:xfrm>
            <a:off x="1737360" y="1965960"/>
            <a:ext cx="2194560" cy="731520"/>
          </a:xfrm>
          <a:prstGeom prst="rect">
            <a:avLst/>
          </a:prstGeom>
          <a:noFill/>
          <a:ln/>
        </p:spPr>
        <p:txBody>
          <a:bodyPr wrap="square" lIns="0" tIns="0" rIns="0" bIns="0" rtlCol="0" anchor="ctr"/>
          <a:lstStyle/>
          <a:p>
            <a:pPr marL="0" indent="0">
              <a:buNone/>
            </a:pPr>
            <a:r>
              <a:rPr lang="en-US" sz="2600" b="1" dirty="0">
                <a:solidFill>
                  <a:srgbClr val="0A1F3D"/>
                </a:solidFill>
                <a:latin typeface="Cambria" pitchFamily="34" charset="0"/>
                <a:ea typeface="Cambria" pitchFamily="34" charset="-122"/>
                <a:cs typeface="Cambria" pitchFamily="34" charset="-120"/>
              </a:rPr>
              <a:t>Shipped</a:t>
            </a:r>
            <a:endParaRPr lang="en-US" sz="2600" dirty="0"/>
          </a:p>
        </p:txBody>
      </p:sp>
      <p:sp>
        <p:nvSpPr>
          <p:cNvPr id="7" name="Shape 4"/>
          <p:cNvSpPr/>
          <p:nvPr/>
        </p:nvSpPr>
        <p:spPr>
          <a:xfrm>
            <a:off x="548640" y="3017520"/>
            <a:ext cx="3520440" cy="2651760"/>
          </a:xfrm>
          <a:prstGeom prst="rect">
            <a:avLst/>
          </a:prstGeom>
          <a:solidFill>
            <a:srgbClr val="F6F8FB"/>
          </a:solidFill>
          <a:ln w="12700">
            <a:solidFill>
              <a:srgbClr val="D5DCE8"/>
            </a:solidFill>
            <a:prstDash val="solid"/>
          </a:ln>
        </p:spPr>
      </p:sp>
      <p:sp>
        <p:nvSpPr>
          <p:cNvPr id="8" name="Text 5"/>
          <p:cNvSpPr txBox="1"/>
          <p:nvPr/>
        </p:nvSpPr>
        <p:spPr>
          <a:xfrm>
            <a:off x="822960" y="3246120"/>
            <a:ext cx="301752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Discovery chat and 6-pillar generation</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Version history with snapshot compare</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PDF, Word and JSON export</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Team workspaces with sign-in and roles</a:t>
            </a:r>
            <a:endParaRPr lang="en-US" sz="1600" dirty="0"/>
          </a:p>
        </p:txBody>
      </p:sp>
      <p:sp>
        <p:nvSpPr>
          <p:cNvPr id="9" name="Shape 6"/>
          <p:cNvSpPr/>
          <p:nvPr/>
        </p:nvSpPr>
        <p:spPr>
          <a:xfrm>
            <a:off x="4617720" y="1965960"/>
            <a:ext cx="731520" cy="731520"/>
          </a:xfrm>
          <a:prstGeom prst="ellipse">
            <a:avLst/>
          </a:prstGeom>
          <a:solidFill>
            <a:srgbClr val="17335F"/>
          </a:solidFill>
          <a:ln w="12700">
            <a:solidFill>
              <a:srgbClr val="17335F"/>
            </a:solidFill>
            <a:prstDash val="solid"/>
          </a:ln>
        </p:spPr>
      </p:sp>
      <p:pic>
        <p:nvPicPr>
          <p:cNvPr id="10" name="Image 1" descr="preencoded.png"/>
          <p:cNvPicPr>
            <a:picLocks noChangeAspect="1"/>
          </p:cNvPicPr>
          <p:nvPr/>
        </p:nvPicPr>
        <p:blipFill>
          <a:blip r:embed="rId4"/>
          <a:stretch>
            <a:fillRect/>
          </a:stretch>
        </p:blipFill>
        <p:spPr>
          <a:xfrm>
            <a:off x="4800600" y="2148840"/>
            <a:ext cx="365760" cy="365760"/>
          </a:xfrm>
          <a:prstGeom prst="rect">
            <a:avLst/>
          </a:prstGeom>
        </p:spPr>
      </p:pic>
      <p:sp>
        <p:nvSpPr>
          <p:cNvPr id="11" name="Text 7"/>
          <p:cNvSpPr txBox="1"/>
          <p:nvPr/>
        </p:nvSpPr>
        <p:spPr>
          <a:xfrm>
            <a:off x="5486400" y="1965960"/>
            <a:ext cx="2194560" cy="731520"/>
          </a:xfrm>
          <a:prstGeom prst="rect">
            <a:avLst/>
          </a:prstGeom>
          <a:noFill/>
          <a:ln/>
        </p:spPr>
        <p:txBody>
          <a:bodyPr wrap="square" lIns="0" tIns="0" rIns="0" bIns="0" rtlCol="0" anchor="ctr"/>
          <a:lstStyle/>
          <a:p>
            <a:pPr marL="0" indent="0">
              <a:buNone/>
            </a:pPr>
            <a:r>
              <a:rPr lang="en-US" sz="2600" b="1" dirty="0">
                <a:solidFill>
                  <a:srgbClr val="0A1F3D"/>
                </a:solidFill>
                <a:latin typeface="Cambria" pitchFamily="34" charset="0"/>
                <a:ea typeface="Cambria" pitchFamily="34" charset="-122"/>
                <a:cs typeface="Cambria" pitchFamily="34" charset="-120"/>
              </a:rPr>
              <a:t>Next</a:t>
            </a:r>
            <a:endParaRPr lang="en-US" sz="2600" dirty="0"/>
          </a:p>
        </p:txBody>
      </p:sp>
      <p:sp>
        <p:nvSpPr>
          <p:cNvPr id="12" name="Shape 8"/>
          <p:cNvSpPr/>
          <p:nvPr/>
        </p:nvSpPr>
        <p:spPr>
          <a:xfrm>
            <a:off x="4297680" y="3017520"/>
            <a:ext cx="3520440" cy="2651760"/>
          </a:xfrm>
          <a:prstGeom prst="rect">
            <a:avLst/>
          </a:prstGeom>
          <a:solidFill>
            <a:srgbClr val="F6F8FB"/>
          </a:solidFill>
          <a:ln w="12700">
            <a:solidFill>
              <a:srgbClr val="D5DCE8"/>
            </a:solidFill>
            <a:prstDash val="solid"/>
          </a:ln>
        </p:spPr>
      </p:sp>
      <p:sp>
        <p:nvSpPr>
          <p:cNvPr id="13" name="Text 9"/>
          <p:cNvSpPr txBox="1"/>
          <p:nvPr/>
        </p:nvSpPr>
        <p:spPr>
          <a:xfrm>
            <a:off x="4572000" y="3246120"/>
            <a:ext cx="301752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Terraform and Kubernetes generation from the topology</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Jira and GitHub sync: requirements become epics and stories</a:t>
            </a:r>
            <a:endParaRPr lang="en-US" sz="1600" dirty="0"/>
          </a:p>
        </p:txBody>
      </p:sp>
      <p:sp>
        <p:nvSpPr>
          <p:cNvPr id="14" name="Shape 10"/>
          <p:cNvSpPr/>
          <p:nvPr/>
        </p:nvSpPr>
        <p:spPr>
          <a:xfrm>
            <a:off x="8366760" y="1965960"/>
            <a:ext cx="731520" cy="731520"/>
          </a:xfrm>
          <a:prstGeom prst="ellipse">
            <a:avLst/>
          </a:prstGeom>
          <a:solidFill>
            <a:srgbClr val="17335F"/>
          </a:solidFill>
          <a:ln w="12700">
            <a:solidFill>
              <a:srgbClr val="17335F"/>
            </a:solidFill>
            <a:prstDash val="solid"/>
          </a:ln>
        </p:spPr>
      </p:sp>
      <p:pic>
        <p:nvPicPr>
          <p:cNvPr id="15" name="Image 2" descr="preencoded.png"/>
          <p:cNvPicPr>
            <a:picLocks noChangeAspect="1"/>
          </p:cNvPicPr>
          <p:nvPr/>
        </p:nvPicPr>
        <p:blipFill>
          <a:blip r:embed="rId5"/>
          <a:stretch>
            <a:fillRect/>
          </a:stretch>
        </p:blipFill>
        <p:spPr>
          <a:xfrm>
            <a:off x="8549640" y="2148840"/>
            <a:ext cx="365760" cy="365760"/>
          </a:xfrm>
          <a:prstGeom prst="rect">
            <a:avLst/>
          </a:prstGeom>
        </p:spPr>
      </p:pic>
      <p:sp>
        <p:nvSpPr>
          <p:cNvPr id="16" name="Text 11"/>
          <p:cNvSpPr txBox="1"/>
          <p:nvPr/>
        </p:nvSpPr>
        <p:spPr>
          <a:xfrm>
            <a:off x="9235440" y="1965960"/>
            <a:ext cx="2194560" cy="731520"/>
          </a:xfrm>
          <a:prstGeom prst="rect">
            <a:avLst/>
          </a:prstGeom>
          <a:noFill/>
          <a:ln/>
        </p:spPr>
        <p:txBody>
          <a:bodyPr wrap="square" lIns="0" tIns="0" rIns="0" bIns="0" rtlCol="0" anchor="ctr"/>
          <a:lstStyle/>
          <a:p>
            <a:pPr marL="0" indent="0">
              <a:buNone/>
            </a:pPr>
            <a:r>
              <a:rPr lang="en-US" sz="2600" b="1" dirty="0">
                <a:solidFill>
                  <a:srgbClr val="0A1F3D"/>
                </a:solidFill>
                <a:latin typeface="Cambria" pitchFamily="34" charset="0"/>
                <a:ea typeface="Cambria" pitchFamily="34" charset="-122"/>
                <a:cs typeface="Cambria" pitchFamily="34" charset="-120"/>
              </a:rPr>
              <a:t>Later</a:t>
            </a:r>
            <a:endParaRPr lang="en-US" sz="2600" dirty="0"/>
          </a:p>
        </p:txBody>
      </p:sp>
      <p:sp>
        <p:nvSpPr>
          <p:cNvPr id="17" name="Shape 12"/>
          <p:cNvSpPr/>
          <p:nvPr/>
        </p:nvSpPr>
        <p:spPr>
          <a:xfrm>
            <a:off x="8046720" y="3017520"/>
            <a:ext cx="3520440" cy="2651760"/>
          </a:xfrm>
          <a:prstGeom prst="rect">
            <a:avLst/>
          </a:prstGeom>
          <a:solidFill>
            <a:srgbClr val="F6F8FB"/>
          </a:solidFill>
          <a:ln w="12700">
            <a:solidFill>
              <a:srgbClr val="D5DCE8"/>
            </a:solidFill>
            <a:prstDash val="solid"/>
          </a:ln>
        </p:spPr>
      </p:sp>
      <p:sp>
        <p:nvSpPr>
          <p:cNvPr id="18" name="Text 13"/>
          <p:cNvSpPr txBox="1"/>
          <p:nvPr/>
        </p:nvSpPr>
        <p:spPr>
          <a:xfrm>
            <a:off x="8321040" y="3246120"/>
            <a:ext cx="301752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One-click provisioning to AWS, Azure and Google Cloud</a:t>
            </a:r>
            <a:endParaRPr lang="en-US" sz="1600" dirty="0"/>
          </a:p>
        </p:txBody>
      </p:sp>
      <p:sp>
        <p:nvSpPr>
          <p:cNvPr id="19" name="Text 14"/>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20" name="Text 15"/>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F3D"/>
        </a:solidFill>
        <a:effectLst/>
      </p:bgPr>
    </p:bg>
    <p:spTree>
      <p:nvGrpSpPr>
        <p:cNvPr id="1" name=""/>
        <p:cNvGrpSpPr/>
        <p:nvPr/>
      </p:nvGrpSpPr>
      <p:grpSpPr>
        <a:xfrm>
          <a:off x="0" y="0"/>
          <a:ext cx="0" cy="0"/>
          <a:chOff x="0" y="0"/>
          <a:chExt cx="0" cy="0"/>
        </a:xfrm>
      </p:grpSpPr>
      <p:sp>
        <p:nvSpPr>
          <p:cNvPr id="2" name="Shape 0"/>
          <p:cNvSpPr/>
          <p:nvPr/>
        </p:nvSpPr>
        <p:spPr>
          <a:xfrm>
            <a:off x="457200" y="457200"/>
            <a:ext cx="320040" cy="27432"/>
          </a:xfrm>
          <a:prstGeom prst="rect">
            <a:avLst/>
          </a:prstGeom>
          <a:solidFill>
            <a:srgbClr val="E0A243"/>
          </a:solidFill>
          <a:ln w="12700">
            <a:solidFill>
              <a:srgbClr val="E0A243"/>
            </a:solidFill>
            <a:prstDash val="solid"/>
          </a:ln>
        </p:spPr>
      </p:sp>
      <p:sp>
        <p:nvSpPr>
          <p:cNvPr id="3" name="Shape 1"/>
          <p:cNvSpPr/>
          <p:nvPr/>
        </p:nvSpPr>
        <p:spPr>
          <a:xfrm>
            <a:off x="457200" y="457200"/>
            <a:ext cx="27432" cy="320040"/>
          </a:xfrm>
          <a:prstGeom prst="rect">
            <a:avLst/>
          </a:prstGeom>
          <a:solidFill>
            <a:srgbClr val="E0A243"/>
          </a:solidFill>
          <a:ln w="12700">
            <a:solidFill>
              <a:srgbClr val="E0A243"/>
            </a:solidFill>
            <a:prstDash val="solid"/>
          </a:ln>
        </p:spPr>
      </p:sp>
      <p:sp>
        <p:nvSpPr>
          <p:cNvPr id="4" name="Shape 2"/>
          <p:cNvSpPr/>
          <p:nvPr/>
        </p:nvSpPr>
        <p:spPr>
          <a:xfrm>
            <a:off x="11411712" y="457200"/>
            <a:ext cx="320040" cy="27432"/>
          </a:xfrm>
          <a:prstGeom prst="rect">
            <a:avLst/>
          </a:prstGeom>
          <a:solidFill>
            <a:srgbClr val="E0A243"/>
          </a:solidFill>
          <a:ln w="12700">
            <a:solidFill>
              <a:srgbClr val="E0A243"/>
            </a:solidFill>
            <a:prstDash val="solid"/>
          </a:ln>
        </p:spPr>
      </p:sp>
      <p:sp>
        <p:nvSpPr>
          <p:cNvPr id="5" name="Shape 3"/>
          <p:cNvSpPr/>
          <p:nvPr/>
        </p:nvSpPr>
        <p:spPr>
          <a:xfrm>
            <a:off x="11704320" y="457200"/>
            <a:ext cx="27432" cy="320040"/>
          </a:xfrm>
          <a:prstGeom prst="rect">
            <a:avLst/>
          </a:prstGeom>
          <a:solidFill>
            <a:srgbClr val="E0A243"/>
          </a:solidFill>
          <a:ln w="12700">
            <a:solidFill>
              <a:srgbClr val="E0A243"/>
            </a:solidFill>
            <a:prstDash val="solid"/>
          </a:ln>
        </p:spPr>
      </p:sp>
      <p:sp>
        <p:nvSpPr>
          <p:cNvPr id="6" name="Shape 4"/>
          <p:cNvSpPr/>
          <p:nvPr/>
        </p:nvSpPr>
        <p:spPr>
          <a:xfrm>
            <a:off x="457200" y="6373368"/>
            <a:ext cx="320040" cy="27432"/>
          </a:xfrm>
          <a:prstGeom prst="rect">
            <a:avLst/>
          </a:prstGeom>
          <a:solidFill>
            <a:srgbClr val="E0A243"/>
          </a:solidFill>
          <a:ln w="12700">
            <a:solidFill>
              <a:srgbClr val="E0A243"/>
            </a:solidFill>
            <a:prstDash val="solid"/>
          </a:ln>
        </p:spPr>
      </p:sp>
      <p:sp>
        <p:nvSpPr>
          <p:cNvPr id="7" name="Shape 5"/>
          <p:cNvSpPr/>
          <p:nvPr/>
        </p:nvSpPr>
        <p:spPr>
          <a:xfrm>
            <a:off x="457200" y="6080760"/>
            <a:ext cx="27432" cy="320040"/>
          </a:xfrm>
          <a:prstGeom prst="rect">
            <a:avLst/>
          </a:prstGeom>
          <a:solidFill>
            <a:srgbClr val="E0A243"/>
          </a:solidFill>
          <a:ln w="12700">
            <a:solidFill>
              <a:srgbClr val="E0A243"/>
            </a:solidFill>
            <a:prstDash val="solid"/>
          </a:ln>
        </p:spPr>
      </p:sp>
      <p:sp>
        <p:nvSpPr>
          <p:cNvPr id="8" name="Shape 6"/>
          <p:cNvSpPr/>
          <p:nvPr/>
        </p:nvSpPr>
        <p:spPr>
          <a:xfrm>
            <a:off x="11411712" y="6373368"/>
            <a:ext cx="320040" cy="27432"/>
          </a:xfrm>
          <a:prstGeom prst="rect">
            <a:avLst/>
          </a:prstGeom>
          <a:solidFill>
            <a:srgbClr val="E0A243"/>
          </a:solidFill>
          <a:ln w="12700">
            <a:solidFill>
              <a:srgbClr val="E0A243"/>
            </a:solidFill>
            <a:prstDash val="solid"/>
          </a:ln>
        </p:spPr>
      </p:sp>
      <p:sp>
        <p:nvSpPr>
          <p:cNvPr id="9" name="Shape 7"/>
          <p:cNvSpPr/>
          <p:nvPr/>
        </p:nvSpPr>
        <p:spPr>
          <a:xfrm>
            <a:off x="11704320" y="6080760"/>
            <a:ext cx="27432" cy="320040"/>
          </a:xfrm>
          <a:prstGeom prst="rect">
            <a:avLst/>
          </a:prstGeom>
          <a:solidFill>
            <a:srgbClr val="E0A243"/>
          </a:solidFill>
          <a:ln w="12700">
            <a:solidFill>
              <a:srgbClr val="E0A243"/>
            </a:solidFill>
            <a:prstDash val="solid"/>
          </a:ln>
        </p:spPr>
      </p:sp>
      <p:sp>
        <p:nvSpPr>
          <p:cNvPr id="10" name="Text 8"/>
          <p:cNvSpPr txBox="1"/>
          <p:nvPr/>
        </p:nvSpPr>
        <p:spPr>
          <a:xfrm>
            <a:off x="822960" y="1188720"/>
            <a:ext cx="1042416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The biggest unlock in enterprise AI isn't automating the build.</a:t>
            </a:r>
            <a:endParaRPr lang="en-US" sz="4000" dirty="0"/>
          </a:p>
        </p:txBody>
      </p:sp>
      <p:sp>
        <p:nvSpPr>
          <p:cNvPr id="11" name="Text 9"/>
          <p:cNvSpPr txBox="1"/>
          <p:nvPr/>
        </p:nvSpPr>
        <p:spPr>
          <a:xfrm>
            <a:off x="822960" y="2697480"/>
            <a:ext cx="10424160" cy="914400"/>
          </a:xfrm>
          <a:prstGeom prst="rect">
            <a:avLst/>
          </a:prstGeom>
          <a:noFill/>
          <a:ln/>
        </p:spPr>
        <p:txBody>
          <a:bodyPr wrap="square" lIns="0" tIns="0" rIns="0" bIns="0" rtlCol="0" anchor="t"/>
          <a:lstStyle/>
          <a:p>
            <a:pPr marL="0" indent="0">
              <a:buNone/>
            </a:pPr>
            <a:r>
              <a:rPr lang="en-US" sz="2800" i="1" dirty="0">
                <a:solidFill>
                  <a:srgbClr val="E0A243"/>
                </a:solidFill>
                <a:latin typeface="Cambria" pitchFamily="34" charset="0"/>
                <a:ea typeface="Cambria" pitchFamily="34" charset="-122"/>
                <a:cs typeface="Cambria" pitchFamily="34" charset="-120"/>
              </a:rPr>
              <a:t>It's automating the thinking that happens</a:t>
            </a:r>
            <a:endParaRPr lang="en-US" sz="2800" dirty="0"/>
          </a:p>
          <a:p>
            <a:pPr marL="0" indent="0">
              <a:buNone/>
            </a:pPr>
            <a:r>
              <a:rPr lang="en-US" sz="2800" i="1" dirty="0">
                <a:solidFill>
                  <a:srgbClr val="E0A243"/>
                </a:solidFill>
                <a:latin typeface="Cambria" pitchFamily="34" charset="0"/>
                <a:ea typeface="Cambria" pitchFamily="34" charset="-122"/>
                <a:cs typeface="Cambria" pitchFamily="34" charset="-120"/>
              </a:rPr>
              <a:t>before anyone writes a line of code.</a:t>
            </a:r>
            <a:endParaRPr lang="en-US" sz="2800" dirty="0"/>
          </a:p>
        </p:txBody>
      </p:sp>
      <p:sp>
        <p:nvSpPr>
          <p:cNvPr id="12" name="Text 10"/>
          <p:cNvSpPr txBox="1"/>
          <p:nvPr/>
        </p:nvSpPr>
        <p:spPr>
          <a:xfrm>
            <a:off x="822960" y="4114800"/>
            <a:ext cx="82296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Thank You</a:t>
            </a:r>
            <a:endParaRPr lang="en-US" sz="2200" dirty="0"/>
          </a:p>
        </p:txBody>
      </p:sp>
      <p:sp>
        <p:nvSpPr>
          <p:cNvPr id="13" name="Text 11"/>
          <p:cNvSpPr txBox="1"/>
          <p:nvPr/>
        </p:nvSpPr>
        <p:spPr>
          <a:xfrm>
            <a:off x="822960" y="493776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Dhruv Bhoi – D26CE154</a:t>
            </a:r>
            <a:endParaRPr lang="en-US" sz="1600" dirty="0"/>
          </a:p>
        </p:txBody>
      </p:sp>
      <p:sp>
        <p:nvSpPr>
          <p:cNvPr id="14" name="Text 12"/>
          <p:cNvSpPr txBox="1"/>
          <p:nvPr/>
        </p:nvSpPr>
        <p:spPr>
          <a:xfrm>
            <a:off x="822960" y="5257800"/>
            <a:ext cx="256032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Team Leader</a:t>
            </a:r>
          </a:p>
          <a:p>
            <a:pPr marL="0" indent="0">
              <a:buNone/>
            </a:pPr>
            <a:r>
              <a:rPr lang="en-US" sz="1300" dirty="0">
                <a:solidFill>
                  <a:srgbClr val="B9C7DD"/>
                </a:solidFill>
                <a:latin typeface="Calibri" pitchFamily="34" charset="0"/>
                <a:ea typeface="Calibri" pitchFamily="34" charset="-122"/>
                <a:cs typeface="Calibri" pitchFamily="34" charset="-120"/>
              </a:rPr>
              <a:t>System Logic &amp; System Architect</a:t>
            </a:r>
            <a:endParaRPr lang="en-US" sz="1300" dirty="0"/>
          </a:p>
        </p:txBody>
      </p:sp>
      <p:sp>
        <p:nvSpPr>
          <p:cNvPr id="15" name="Text 13"/>
          <p:cNvSpPr txBox="1"/>
          <p:nvPr/>
        </p:nvSpPr>
        <p:spPr>
          <a:xfrm>
            <a:off x="3566160" y="493776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Jiya Sheth – D26CE174</a:t>
            </a:r>
            <a:endParaRPr lang="en-US" sz="1600" dirty="0"/>
          </a:p>
        </p:txBody>
      </p:sp>
      <p:sp>
        <p:nvSpPr>
          <p:cNvPr id="16" name="Text 14"/>
          <p:cNvSpPr txBox="1"/>
          <p:nvPr/>
        </p:nvSpPr>
        <p:spPr>
          <a:xfrm>
            <a:off x="3566160" y="5257800"/>
            <a:ext cx="2560320" cy="457200"/>
          </a:xfrm>
          <a:prstGeom prst="rect">
            <a:avLst/>
          </a:prstGeom>
          <a:noFill/>
          <a:ln/>
        </p:spPr>
        <p:txBody>
          <a:bodyPr wrap="square" lIns="0" tIns="0" rIns="0" bIns="0" rtlCol="0" anchor="t"/>
          <a:lstStyle/>
          <a:p>
            <a:r>
              <a:rPr lang="en-US" sz="1300" dirty="0">
                <a:solidFill>
                  <a:srgbClr val="B9C7DD"/>
                </a:solidFill>
                <a:latin typeface="Calibri" pitchFamily="34" charset="0"/>
                <a:ea typeface="Calibri" pitchFamily="34" charset="-122"/>
                <a:cs typeface="Calibri" pitchFamily="34" charset="-120"/>
              </a:rPr>
              <a:t>AI Integration &amp; UI/UX</a:t>
            </a:r>
            <a:endParaRPr lang="en-US" sz="1300" dirty="0"/>
          </a:p>
        </p:txBody>
      </p:sp>
      <p:sp>
        <p:nvSpPr>
          <p:cNvPr id="17" name="Text 15"/>
          <p:cNvSpPr txBox="1"/>
          <p:nvPr/>
        </p:nvSpPr>
        <p:spPr>
          <a:xfrm>
            <a:off x="6309360" y="493776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Kush Parekh – D26CE148</a:t>
            </a:r>
            <a:endParaRPr lang="en-US" sz="1600" dirty="0"/>
          </a:p>
        </p:txBody>
      </p:sp>
      <p:sp>
        <p:nvSpPr>
          <p:cNvPr id="18" name="Text 16"/>
          <p:cNvSpPr txBox="1"/>
          <p:nvPr/>
        </p:nvSpPr>
        <p:spPr>
          <a:xfrm>
            <a:off x="6309360" y="5257800"/>
            <a:ext cx="2560320" cy="457200"/>
          </a:xfrm>
          <a:prstGeom prst="rect">
            <a:avLst/>
          </a:prstGeom>
          <a:noFill/>
          <a:ln/>
        </p:spPr>
        <p:txBody>
          <a:bodyPr wrap="square" lIns="0" tIns="0" rIns="0" bIns="0" rtlCol="0" anchor="t"/>
          <a:lstStyle/>
          <a:p>
            <a:r>
              <a:rPr lang="en-US" sz="1300" dirty="0">
                <a:solidFill>
                  <a:srgbClr val="B9C7DD"/>
                </a:solidFill>
                <a:latin typeface="Calibri" pitchFamily="34" charset="0"/>
                <a:ea typeface="Calibri" pitchFamily="34" charset="-122"/>
                <a:cs typeface="Calibri" pitchFamily="34" charset="-120"/>
              </a:rPr>
              <a:t>Frontend &amp; Backend</a:t>
            </a:r>
            <a:endParaRPr lang="en-US" sz="1300" dirty="0"/>
          </a:p>
        </p:txBody>
      </p:sp>
      <p:sp>
        <p:nvSpPr>
          <p:cNvPr id="19" name="Text 17"/>
          <p:cNvSpPr txBox="1"/>
          <p:nvPr/>
        </p:nvSpPr>
        <p:spPr>
          <a:xfrm>
            <a:off x="9052560" y="493776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Heet Doshi – D26CE169</a:t>
            </a:r>
            <a:endParaRPr lang="en-US" sz="1600" dirty="0"/>
          </a:p>
        </p:txBody>
      </p:sp>
      <p:sp>
        <p:nvSpPr>
          <p:cNvPr id="20" name="Text 18"/>
          <p:cNvSpPr txBox="1"/>
          <p:nvPr/>
        </p:nvSpPr>
        <p:spPr>
          <a:xfrm>
            <a:off x="9052560" y="5257800"/>
            <a:ext cx="256032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Technical Documentation</a:t>
            </a:r>
            <a:endParaRPr lang="en-US" sz="1300" dirty="0"/>
          </a:p>
        </p:txBody>
      </p:sp>
      <p:sp>
        <p:nvSpPr>
          <p:cNvPr id="21" name="Text 19"/>
          <p:cNvSpPr txBox="1"/>
          <p:nvPr/>
        </p:nvSpPr>
        <p:spPr>
          <a:xfrm>
            <a:off x="822960" y="5760720"/>
            <a:ext cx="7315200" cy="320040"/>
          </a:xfrm>
          <a:prstGeom prst="rect">
            <a:avLst/>
          </a:prstGeom>
          <a:noFill/>
          <a:ln/>
        </p:spPr>
        <p:txBody>
          <a:bodyPr wrap="square" lIns="0" tIns="0" rIns="0" bIns="0" rtlCol="0" anchor="ctr"/>
          <a:lstStyle/>
          <a:p>
            <a:pPr marL="0" indent="0">
              <a:buNone/>
            </a:pPr>
            <a:r>
              <a:rPr lang="en-US" sz="1600" dirty="0">
                <a:solidFill>
                  <a:srgbClr val="B9C7DD"/>
                </a:solidFill>
                <a:latin typeface="Calibri" pitchFamily="34" charset="0"/>
                <a:ea typeface="Calibri" pitchFamily="34" charset="-122"/>
                <a:cs typeface="Calibri" pitchFamily="34" charset="-120"/>
              </a:rPr>
              <a:t>Mentor:  </a:t>
            </a:r>
            <a:r>
              <a:rPr lang="en-US" sz="1600" b="1" dirty="0">
                <a:solidFill>
                  <a:srgbClr val="E0A243"/>
                </a:solidFill>
                <a:latin typeface="Calibri" pitchFamily="34" charset="0"/>
                <a:ea typeface="Calibri" pitchFamily="34" charset="-122"/>
                <a:cs typeface="Calibri" pitchFamily="34" charset="-120"/>
              </a:rPr>
              <a:t>Prof. Rikita Chokshi, CE, CSPIT, CHARUSAT</a:t>
            </a:r>
            <a:endParaRPr lang="en-US" sz="1600" dirty="0"/>
          </a:p>
        </p:txBody>
      </p:sp>
      <p:sp>
        <p:nvSpPr>
          <p:cNvPr id="22" name="Text 20"/>
          <p:cNvSpPr txBox="1"/>
          <p:nvPr/>
        </p:nvSpPr>
        <p:spPr>
          <a:xfrm>
            <a:off x="822960" y="6144768"/>
            <a:ext cx="7315200" cy="274320"/>
          </a:xfrm>
          <a:prstGeom prst="rect">
            <a:avLst/>
          </a:prstGeom>
          <a:noFill/>
          <a:ln/>
        </p:spPr>
        <p:txBody>
          <a:bodyPr wrap="square" lIns="0" tIns="0" rIns="0" bIns="0" rtlCol="0" anchor="ctr"/>
          <a:lstStyle/>
          <a:p>
            <a:pPr marL="0" indent="0">
              <a:buNone/>
            </a:pPr>
            <a:r>
              <a:rPr lang="en-US" sz="1200" dirty="0">
                <a:solidFill>
                  <a:srgbClr val="B9C7DD"/>
                </a:solidFill>
                <a:latin typeface="Calibri" pitchFamily="34" charset="0"/>
                <a:ea typeface="Calibri" pitchFamily="34" charset="-122"/>
                <a:cs typeface="Calibri" pitchFamily="34" charset="-120"/>
              </a:rPr>
              <a:t>Team Blueprint AI  ·  Compile  ·  Chaos2Commit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1783</Words>
  <Application>Microsoft Office PowerPoint</Application>
  <PresentationFormat>Widescreen</PresentationFormat>
  <Paragraphs>200</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 — Blueprint AI — Chaos2Commit 2026</dc:title>
  <dc:subject>PptxGenJS Presentation</dc:subject>
  <dc:creator>Team Blueprint AI</dc:creator>
  <cp:lastModifiedBy>Dhruv Bhoi</cp:lastModifiedBy>
  <cp:revision>5</cp:revision>
  <dcterms:created xsi:type="dcterms:W3CDTF">2026-09-20T12:25:51Z</dcterms:created>
  <dcterms:modified xsi:type="dcterms:W3CDTF">2026-09-20T17:50:15Z</dcterms:modified>
</cp:coreProperties>
</file>